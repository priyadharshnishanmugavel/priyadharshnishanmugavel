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2"/>
  </p:sldMasterIdLst>
  <p:sldIdLst>
    <p:sldId id="256" r:id="rId3"/>
    <p:sldId id="257" r:id="rId4"/>
    <p:sldId id="258" r:id="rId5"/>
    <p:sldId id="269" r:id="rId6"/>
    <p:sldId id="260" r:id="rId7"/>
    <p:sldId id="271" r:id="rId8"/>
    <p:sldId id="272" r:id="rId9"/>
    <p:sldId id="273" r:id="rId10"/>
    <p:sldId id="259" r:id="rId11"/>
    <p:sldId id="275" r:id="rId12"/>
    <p:sldId id="261" r:id="rId13"/>
    <p:sldId id="276" r:id="rId14"/>
    <p:sldId id="262" r:id="rId15"/>
    <p:sldId id="263" r:id="rId16"/>
    <p:sldId id="277" r:id="rId17"/>
    <p:sldId id="264" r:id="rId18"/>
    <p:sldId id="279" r:id="rId19"/>
    <p:sldId id="265" r:id="rId20"/>
    <p:sldId id="278" r:id="rId21"/>
    <p:sldId id="280" r:id="rId22"/>
    <p:sldId id="281" r:id="rId23"/>
    <p:sldId id="266" r:id="rId24"/>
    <p:sldId id="282" r:id="rId2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p:scale>
          <a:sx n="75" d="100"/>
          <a:sy n="75" d="100"/>
        </p:scale>
        <p:origin x="898" y="7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44240" y="3907080"/>
            <a:ext cx="8255520" cy="833040"/>
          </a:xfrm>
          <a:prstGeom prst="rect">
            <a:avLst/>
          </a:prstGeom>
          <a:noFill/>
          <a:ln w="0">
            <a:noFill/>
          </a:ln>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0" y="152280"/>
            <a:ext cx="9143640" cy="3579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057680"/>
            <a:ext cx="6575760" cy="1716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accent1"/>
                </a:solidFill>
                <a:effectLst/>
                <a:uFillTx/>
                <a:latin typeface="Kodchasan SemiBold"/>
                <a:ea typeface="Kodchasan Semi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318600" y="1123200"/>
            <a:ext cx="617400" cy="447120"/>
          </a:xfrm>
          <a:prstGeom prst="rect">
            <a:avLst/>
          </a:prstGeom>
          <a:noFill/>
          <a:ln w="0">
            <a:noFill/>
          </a:ln>
        </p:spPr>
        <p:txBody>
          <a:bodyPr lIns="91440" tIns="91440" rIns="91440" bIns="91440" anchor="ctr">
            <a:noAutofit/>
          </a:bodyPr>
          <a:lstStyle/>
          <a:p>
            <a:pPr indent="0">
              <a:lnSpc>
                <a:spcPct val="100000"/>
              </a:lnSpc>
              <a:buNone/>
            </a:pPr>
            <a:r>
              <a:rPr lang="fr-FR" sz="2400" b="0" u="none" strike="noStrike">
                <a:solidFill>
                  <a:schemeClr val="dk1"/>
                </a:solidFill>
                <a:effectLst/>
                <a:uFillTx/>
                <a:latin typeface="Kodchasan SemiBold"/>
                <a:ea typeface="Kodchasan SemiBold"/>
              </a:rPr>
              <a:t>xx%</a:t>
            </a:r>
            <a:endParaRPr lang="fr-FR" sz="2400" b="0" u="none" strike="noStrike">
              <a:solidFill>
                <a:schemeClr val="dk1"/>
              </a:solidFill>
              <a:effectLst/>
              <a:uFillTx/>
              <a:latin typeface="Arial"/>
            </a:endParaRPr>
          </a:p>
        </p:txBody>
      </p:sp>
      <p:sp>
        <p:nvSpPr>
          <p:cNvPr id="4" name="PlaceHolder 2"/>
          <p:cNvSpPr>
            <a:spLocks noGrp="1"/>
          </p:cNvSpPr>
          <p:nvPr>
            <p:ph type="title"/>
          </p:nvPr>
        </p:nvSpPr>
        <p:spPr>
          <a:xfrm>
            <a:off x="318600" y="2098440"/>
            <a:ext cx="617400" cy="447120"/>
          </a:xfrm>
          <a:prstGeom prst="rect">
            <a:avLst/>
          </a:prstGeom>
          <a:noFill/>
          <a:ln w="0">
            <a:noFill/>
          </a:ln>
        </p:spPr>
        <p:txBody>
          <a:bodyPr lIns="91440" tIns="91440" rIns="91440" bIns="91440" anchor="ctr">
            <a:noAutofit/>
          </a:bodyPr>
          <a:lstStyle/>
          <a:p>
            <a:pPr indent="0">
              <a:lnSpc>
                <a:spcPct val="100000"/>
              </a:lnSpc>
              <a:buNone/>
            </a:pPr>
            <a:r>
              <a:rPr lang="fr-FR" sz="2400" b="0" u="none" strike="noStrike">
                <a:solidFill>
                  <a:schemeClr val="dk1"/>
                </a:solidFill>
                <a:effectLst/>
                <a:uFillTx/>
                <a:latin typeface="Kodchasan SemiBold"/>
                <a:ea typeface="Kodchasan SemiBold"/>
              </a:rPr>
              <a:t>xx%</a:t>
            </a:r>
            <a:endParaRPr lang="fr-FR" sz="2400" b="0" u="none" strike="noStrike">
              <a:solidFill>
                <a:schemeClr val="dk1"/>
              </a:solidFill>
              <a:effectLst/>
              <a:uFillTx/>
              <a:latin typeface="Arial"/>
            </a:endParaRPr>
          </a:p>
        </p:txBody>
      </p:sp>
      <p:sp>
        <p:nvSpPr>
          <p:cNvPr id="5" name="PlaceHolder 3"/>
          <p:cNvSpPr>
            <a:spLocks noGrp="1"/>
          </p:cNvSpPr>
          <p:nvPr>
            <p:ph type="title"/>
          </p:nvPr>
        </p:nvSpPr>
        <p:spPr>
          <a:xfrm>
            <a:off x="1922040" y="228600"/>
            <a:ext cx="6903360" cy="4845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
        <p:nvSpPr>
          <p:cNvPr id="6" name="PlaceHolder 4"/>
          <p:cNvSpPr>
            <a:spLocks noGrp="1"/>
          </p:cNvSpPr>
          <p:nvPr>
            <p:ph type="title"/>
          </p:nvPr>
        </p:nvSpPr>
        <p:spPr>
          <a:xfrm>
            <a:off x="318600" y="3073320"/>
            <a:ext cx="617400" cy="447120"/>
          </a:xfrm>
          <a:prstGeom prst="rect">
            <a:avLst/>
          </a:prstGeom>
          <a:noFill/>
          <a:ln w="0">
            <a:noFill/>
          </a:ln>
        </p:spPr>
        <p:txBody>
          <a:bodyPr lIns="91440" tIns="91440" rIns="91440" bIns="91440" anchor="ctr">
            <a:noAutofit/>
          </a:bodyPr>
          <a:lstStyle/>
          <a:p>
            <a:pPr indent="0">
              <a:lnSpc>
                <a:spcPct val="100000"/>
              </a:lnSpc>
              <a:buNone/>
            </a:pPr>
            <a:r>
              <a:rPr lang="fr-FR" sz="2400" b="0" u="none" strike="noStrike">
                <a:solidFill>
                  <a:schemeClr val="dk1"/>
                </a:solidFill>
                <a:effectLst/>
                <a:uFillTx/>
                <a:latin typeface="Kodchasan SemiBold"/>
                <a:ea typeface="Kodchasan SemiBold"/>
              </a:rPr>
              <a:t>xx%</a:t>
            </a:r>
            <a:endParaRPr lang="fr-FR" sz="2400" b="0" u="none" strike="noStrike">
              <a:solidFill>
                <a:schemeClr val="dk1"/>
              </a:solidFill>
              <a:effectLst/>
              <a:uFillTx/>
              <a:latin typeface="Arial"/>
            </a:endParaRPr>
          </a:p>
        </p:txBody>
      </p:sp>
      <p:sp>
        <p:nvSpPr>
          <p:cNvPr id="7" name="PlaceHolder 5"/>
          <p:cNvSpPr>
            <a:spLocks noGrp="1"/>
          </p:cNvSpPr>
          <p:nvPr>
            <p:ph type="title"/>
          </p:nvPr>
        </p:nvSpPr>
        <p:spPr>
          <a:xfrm>
            <a:off x="318600" y="4048560"/>
            <a:ext cx="617400" cy="447120"/>
          </a:xfrm>
          <a:prstGeom prst="rect">
            <a:avLst/>
          </a:prstGeom>
          <a:noFill/>
          <a:ln w="0">
            <a:noFill/>
          </a:ln>
        </p:spPr>
        <p:txBody>
          <a:bodyPr lIns="91440" tIns="91440" rIns="91440" bIns="91440" anchor="ctr">
            <a:noAutofit/>
          </a:bodyPr>
          <a:lstStyle/>
          <a:p>
            <a:pPr indent="0">
              <a:lnSpc>
                <a:spcPct val="100000"/>
              </a:lnSpc>
              <a:buNone/>
            </a:pPr>
            <a:r>
              <a:rPr lang="fr-FR" sz="2400" b="0" u="none" strike="noStrike">
                <a:solidFill>
                  <a:schemeClr val="dk1"/>
                </a:solidFill>
                <a:effectLst/>
                <a:uFillTx/>
                <a:latin typeface="Kodchasan SemiBold"/>
                <a:ea typeface="Kodchasan SemiBold"/>
              </a:rPr>
              <a:t>xx%</a:t>
            </a:r>
            <a:endParaRPr lang="fr-FR" sz="2400" b="0" u="none" strike="noStrike">
              <a:solidFill>
                <a:schemeClr val="dk1"/>
              </a:solidFill>
              <a:effectLst/>
              <a:uFillTx/>
              <a:latin typeface="Arial"/>
            </a:endParaRPr>
          </a:p>
        </p:txBody>
      </p:sp>
      <p:sp>
        <p:nvSpPr>
          <p:cNvPr id="8" name="PlaceHolder 6"/>
          <p:cNvSpPr>
            <a:spLocks noGrp="1"/>
          </p:cNvSpPr>
          <p:nvPr>
            <p:ph type="body"/>
          </p:nvPr>
        </p:nvSpPr>
        <p:spPr>
          <a:xfrm>
            <a:off x="5418000" y="979560"/>
            <a:ext cx="3608280" cy="4137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sp>
        <p:nvSpPr>
          <p:cNvPr id="9" name="Google Shape;71;p14"/>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PlaceHolder 1"/>
          <p:cNvSpPr>
            <a:spLocks noGrp="1"/>
          </p:cNvSpPr>
          <p:nvPr>
            <p:ph type="title"/>
          </p:nvPr>
        </p:nvSpPr>
        <p:spPr>
          <a:xfrm>
            <a:off x="1296720" y="209520"/>
            <a:ext cx="7321320" cy="7239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11" name="Google Shape;73;p14"/>
          <p:cNvGrpSpPr/>
          <p:nvPr/>
        </p:nvGrpSpPr>
        <p:grpSpPr>
          <a:xfrm>
            <a:off x="318600" y="310320"/>
            <a:ext cx="698400" cy="270360"/>
            <a:chOff x="318600" y="310320"/>
            <a:chExt cx="698400" cy="270360"/>
          </a:xfrm>
        </p:grpSpPr>
        <p:sp>
          <p:nvSpPr>
            <p:cNvPr id="12" name="Google Shape;74;p14"/>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3" name="Google Shape;75;p14"/>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76;p14"/>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77;p14"/>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body"/>
          </p:nvPr>
        </p:nvSpPr>
        <p:spPr>
          <a:xfrm>
            <a:off x="0" y="1049400"/>
            <a:ext cx="4083120" cy="40939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8" name="PlaceHolder 2"/>
          <p:cNvSpPr>
            <a:spLocks noGrp="1"/>
          </p:cNvSpPr>
          <p:nvPr>
            <p:ph type="title"/>
          </p:nvPr>
        </p:nvSpPr>
        <p:spPr>
          <a:xfrm>
            <a:off x="1296720" y="209520"/>
            <a:ext cx="7321320" cy="7239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714680" y="228600"/>
            <a:ext cx="6903360" cy="4845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
        <p:nvSpPr>
          <p:cNvPr id="20" name="PlaceHolder 2"/>
          <p:cNvSpPr>
            <a:spLocks noGrp="1"/>
          </p:cNvSpPr>
          <p:nvPr>
            <p:ph type="body"/>
          </p:nvPr>
        </p:nvSpPr>
        <p:spPr>
          <a:xfrm>
            <a:off x="5036760" y="1060920"/>
            <a:ext cx="3801960" cy="381168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1714680" y="228600"/>
            <a:ext cx="6903360" cy="4845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
        <p:nvSpPr>
          <p:cNvPr id="22" name="PlaceHolder 2"/>
          <p:cNvSpPr>
            <a:spLocks noGrp="1"/>
          </p:cNvSpPr>
          <p:nvPr>
            <p:ph type="body"/>
          </p:nvPr>
        </p:nvSpPr>
        <p:spPr>
          <a:xfrm>
            <a:off x="0" y="1049400"/>
            <a:ext cx="4083120" cy="40939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grpSp>
        <p:nvGrpSpPr>
          <p:cNvPr id="23" name="Google Shape;103;p18"/>
          <p:cNvGrpSpPr/>
          <p:nvPr/>
        </p:nvGrpSpPr>
        <p:grpSpPr>
          <a:xfrm>
            <a:off x="318600" y="310320"/>
            <a:ext cx="8506800" cy="942120"/>
            <a:chOff x="318600" y="310320"/>
            <a:chExt cx="8506800" cy="942120"/>
          </a:xfrm>
        </p:grpSpPr>
        <p:grpSp>
          <p:nvGrpSpPr>
            <p:cNvPr id="24" name="Google Shape;104;p18"/>
            <p:cNvGrpSpPr/>
            <p:nvPr/>
          </p:nvGrpSpPr>
          <p:grpSpPr>
            <a:xfrm>
              <a:off x="318600" y="310320"/>
              <a:ext cx="698400" cy="270360"/>
              <a:chOff x="318600" y="310320"/>
              <a:chExt cx="698400" cy="270360"/>
            </a:xfrm>
          </p:grpSpPr>
          <p:sp>
            <p:nvSpPr>
              <p:cNvPr id="25" name="Google Shape;105;p18"/>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106;p18"/>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107;p18"/>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108;p18"/>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9" name="Google Shape;109;p18"/>
            <p:cNvSpPr/>
            <p:nvPr/>
          </p:nvSpPr>
          <p:spPr>
            <a:xfrm>
              <a:off x="1167120" y="310320"/>
              <a:ext cx="7658280" cy="94212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0" name="PlaceHolder 1"/>
          <p:cNvSpPr>
            <a:spLocks noGrp="1"/>
          </p:cNvSpPr>
          <p:nvPr>
            <p:ph type="title"/>
          </p:nvPr>
        </p:nvSpPr>
        <p:spPr>
          <a:xfrm>
            <a:off x="1454400" y="310320"/>
            <a:ext cx="7218720" cy="942120"/>
          </a:xfrm>
          <a:prstGeom prst="rect">
            <a:avLst/>
          </a:prstGeom>
          <a:noFill/>
          <a:ln w="0">
            <a:noFill/>
          </a:ln>
        </p:spPr>
        <p:txBody>
          <a:bodyPr lIns="91440" tIns="91440" rIns="91440" bIns="91440" anchor="b">
            <a:noAutofit/>
          </a:bodyPr>
          <a:lstStyle/>
          <a:p>
            <a:pPr indent="0">
              <a:buNone/>
            </a:pPr>
            <a:r>
              <a:rPr lang="fr-FR" sz="5300" b="0" u="none" strike="noStrike">
                <a:solidFill>
                  <a:schemeClr val="dk1"/>
                </a:solidFill>
                <a:effectLst/>
                <a:uFillTx/>
                <a:latin typeface="Arial"/>
              </a:rPr>
              <a:t>Click to edit the title text format</a:t>
            </a:r>
          </a:p>
        </p:txBody>
      </p:sp>
      <p:sp>
        <p:nvSpPr>
          <p:cNvPr id="31" name="Google Shape;112;p18"/>
          <p:cNvSpPr/>
          <p:nvPr/>
        </p:nvSpPr>
        <p:spPr>
          <a:xfrm>
            <a:off x="318600" y="3781800"/>
            <a:ext cx="578448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200" b="1" u="none" strike="noStrike">
                <a:solidFill>
                  <a:schemeClr val="dk1"/>
                </a:solidFill>
                <a:effectLst/>
                <a:uFillTx/>
                <a:latin typeface="Amiko"/>
                <a:ea typeface="Amiko"/>
              </a:rPr>
              <a:t>CREDITS:</a:t>
            </a:r>
            <a:r>
              <a:rPr lang="en" sz="1200" b="0" u="none" strike="noStrike">
                <a:solidFill>
                  <a:schemeClr val="dk1"/>
                </a:solidFill>
                <a:effectLst/>
                <a:uFillTx/>
                <a:latin typeface="Amiko"/>
                <a:ea typeface="Amiko"/>
              </a:rPr>
              <a:t> This presentation template was created by </a:t>
            </a:r>
            <a:r>
              <a:rPr lang="en" sz="1200" b="1" u="sng" strike="noStrike">
                <a:solidFill>
                  <a:schemeClr val="dk1"/>
                </a:solidFill>
                <a:effectLst/>
                <a:uFillTx/>
                <a:latin typeface="Amiko"/>
                <a:ea typeface="Amiko"/>
                <a:hlinkClick r:id="rId2"/>
              </a:rPr>
              <a:t>Slidesgo</a:t>
            </a:r>
            <a:r>
              <a:rPr lang="en" sz="1200" b="0" u="none" strike="noStrike">
                <a:solidFill>
                  <a:schemeClr val="dk1"/>
                </a:solidFill>
                <a:effectLst/>
                <a:uFillTx/>
                <a:latin typeface="Amiko"/>
                <a:ea typeface="Amiko"/>
              </a:rPr>
              <a:t>, and includes icons, infographics &amp; images by </a:t>
            </a:r>
            <a:r>
              <a:rPr lang="en" sz="1200" b="1" u="sng" strike="noStrike">
                <a:solidFill>
                  <a:schemeClr val="dk1"/>
                </a:solidFill>
                <a:effectLst/>
                <a:uFillTx/>
                <a:latin typeface="Amiko"/>
                <a:ea typeface="Amiko"/>
                <a:hlinkClick r:id="rId3"/>
              </a:rPr>
              <a:t>Freepik</a:t>
            </a:r>
            <a:r>
              <a:rPr lang="en" sz="1200" b="0" u="none" strike="noStrike">
                <a:solidFill>
                  <a:schemeClr val="dk1"/>
                </a:solidFill>
                <a:effectLst/>
                <a:uFillTx/>
                <a:latin typeface="Amiko"/>
                <a:ea typeface="Amiko"/>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1282320" y="479160"/>
            <a:ext cx="7542720" cy="701640"/>
          </a:xfrm>
          <a:prstGeom prst="rect">
            <a:avLst/>
          </a:prstGeom>
          <a:noFill/>
          <a:ln w="0">
            <a:noFill/>
          </a:ln>
        </p:spPr>
        <p:txBody>
          <a:bodyPr lIns="91440" tIns="91440" rIns="91440" bIns="91440" anchor="b">
            <a:noAutofit/>
          </a:bodyPr>
          <a:lstStyle/>
          <a:p>
            <a:pPr indent="0">
              <a:buNone/>
            </a:pPr>
            <a:r>
              <a:rPr lang="fr-FR" sz="3300" b="0" u="none" strike="noStrike">
                <a:solidFill>
                  <a:schemeClr val="dk1"/>
                </a:solidFill>
                <a:effectLst/>
                <a:uFillTx/>
                <a:latin typeface="Arial"/>
              </a:rPr>
              <a:t>Click to edit the title text format</a:t>
            </a:r>
          </a:p>
        </p:txBody>
      </p:sp>
      <p:sp>
        <p:nvSpPr>
          <p:cNvPr id="33" name="PlaceHolder 2"/>
          <p:cNvSpPr>
            <a:spLocks noGrp="1"/>
          </p:cNvSpPr>
          <p:nvPr>
            <p:ph type="title"/>
          </p:nvPr>
        </p:nvSpPr>
        <p:spPr>
          <a:xfrm>
            <a:off x="435240" y="3864600"/>
            <a:ext cx="1651680" cy="915480"/>
          </a:xfrm>
          <a:prstGeom prst="rect">
            <a:avLst/>
          </a:prstGeom>
          <a:no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Kodchasan SemiBold"/>
                <a:ea typeface="Kodchasan SemiBold"/>
              </a:rPr>
              <a:t>xx%</a:t>
            </a:r>
            <a:endParaRPr lang="fr-FR" sz="6000" b="0" u="none" strike="noStrike">
              <a:solidFill>
                <a:schemeClr val="dk1"/>
              </a:solidFill>
              <a:effectLst/>
              <a:uFillTx/>
              <a:latin typeface="Arial"/>
            </a:endParaRPr>
          </a:p>
        </p:txBody>
      </p:sp>
      <p:sp>
        <p:nvSpPr>
          <p:cNvPr id="34" name="PlaceHolder 3"/>
          <p:cNvSpPr>
            <a:spLocks noGrp="1"/>
          </p:cNvSpPr>
          <p:nvPr>
            <p:ph type="body"/>
          </p:nvPr>
        </p:nvSpPr>
        <p:spPr>
          <a:xfrm>
            <a:off x="78120" y="1459440"/>
            <a:ext cx="8991000" cy="360504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36" name="PlaceHolder 2"/>
          <p:cNvSpPr>
            <a:spLocks noGrp="1"/>
          </p:cNvSpPr>
          <p:nvPr>
            <p:ph type="title"/>
          </p:nvPr>
        </p:nvSpPr>
        <p:spPr>
          <a:xfrm>
            <a:off x="1714680" y="228600"/>
            <a:ext cx="6903360" cy="4845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1714680" y="228600"/>
            <a:ext cx="6903360" cy="4845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38" name="Google Shape;26;p5"/>
          <p:cNvGrpSpPr/>
          <p:nvPr/>
        </p:nvGrpSpPr>
        <p:grpSpPr>
          <a:xfrm>
            <a:off x="318600" y="310320"/>
            <a:ext cx="698400" cy="270360"/>
            <a:chOff x="318600" y="310320"/>
            <a:chExt cx="698400" cy="270360"/>
          </a:xfrm>
        </p:grpSpPr>
        <p:sp>
          <p:nvSpPr>
            <p:cNvPr id="39" name="Google Shape;27;p5"/>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Google Shape;28;p5"/>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29;p5"/>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30;p5"/>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1714680" y="228600"/>
            <a:ext cx="6903360" cy="4845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44" name="Google Shape;33;p6"/>
          <p:cNvGrpSpPr/>
          <p:nvPr/>
        </p:nvGrpSpPr>
        <p:grpSpPr>
          <a:xfrm>
            <a:off x="318600" y="310320"/>
            <a:ext cx="698400" cy="270360"/>
            <a:chOff x="318600" y="310320"/>
            <a:chExt cx="698400" cy="270360"/>
          </a:xfrm>
        </p:grpSpPr>
        <p:sp>
          <p:nvSpPr>
            <p:cNvPr id="45" name="Google Shape;34;p6"/>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35;p6"/>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36;p6"/>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8" name="Google Shape;37;p6"/>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49" name="PlaceHolder 1"/>
          <p:cNvSpPr>
            <a:spLocks noGrp="1"/>
          </p:cNvSpPr>
          <p:nvPr>
            <p:ph type="body"/>
          </p:nvPr>
        </p:nvSpPr>
        <p:spPr>
          <a:xfrm>
            <a:off x="5175720" y="1336320"/>
            <a:ext cx="3255120" cy="2982240"/>
          </a:xfrm>
          <a:prstGeom prst="rect">
            <a:avLst/>
          </a:prstGeom>
          <a:noFill/>
          <a:ln w="0">
            <a:noFill/>
          </a:ln>
        </p:spPr>
        <p:txBody>
          <a:bodyPr lIns="90000" tIns="45000" rIns="90000" bIns="45000" anchor="t">
            <a:normAutofit fontScale="5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0" name="PlaceHolder 2"/>
          <p:cNvSpPr>
            <a:spLocks noGrp="1"/>
          </p:cNvSpPr>
          <p:nvPr>
            <p:ph type="title"/>
          </p:nvPr>
        </p:nvSpPr>
        <p:spPr>
          <a:xfrm>
            <a:off x="1714680" y="228600"/>
            <a:ext cx="6903360" cy="48456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35520" y="1655640"/>
            <a:ext cx="4872600" cy="1161000"/>
          </a:xfrm>
          <a:prstGeom prst="rect">
            <a:avLst/>
          </a:prstGeom>
          <a:noFill/>
          <a:ln w="0">
            <a:noFill/>
          </a:ln>
        </p:spPr>
        <p:txBody>
          <a:bodyPr lIns="91440" tIns="91440" rIns="91440" bIns="91440" anchor="b">
            <a:noAutofit/>
          </a:bodyPr>
          <a:lstStyle/>
          <a:p>
            <a:pPr indent="0">
              <a:buNone/>
            </a:pPr>
            <a:r>
              <a:rPr lang="fr-FR" sz="65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3"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4" name="PlaceHolder 2"/>
          <p:cNvSpPr>
            <a:spLocks noGrp="1"/>
          </p:cNvSpPr>
          <p:nvPr>
            <p:ph type="title"/>
          </p:nvPr>
        </p:nvSpPr>
        <p:spPr>
          <a:xfrm>
            <a:off x="720000" y="4014360"/>
            <a:ext cx="7703640" cy="572400"/>
          </a:xfrm>
          <a:prstGeom prst="rect">
            <a:avLst/>
          </a:prstGeom>
          <a:solidFill>
            <a:schemeClr val="lt2"/>
          </a:solid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55" name="Google Shape;120;p23"/>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7" name="Google Shape;123;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9"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Google Shape;130;p25"/>
          <p:cNvPicPr/>
          <p:nvPr/>
        </p:nvPicPr>
        <p:blipFill>
          <a:blip r:embed="rId2"/>
          <a:srcRect t="10623" b="30643"/>
          <a:stretch/>
        </p:blipFill>
        <p:spPr>
          <a:xfrm>
            <a:off x="203213" y="255891"/>
            <a:ext cx="9115557" cy="3579120"/>
          </a:xfrm>
          <a:prstGeom prst="rect">
            <a:avLst/>
          </a:prstGeom>
          <a:noFill/>
          <a:ln w="0">
            <a:noFill/>
          </a:ln>
        </p:spPr>
      </p:pic>
      <p:grpSp>
        <p:nvGrpSpPr>
          <p:cNvPr id="61" name="Google Shape;131;p25"/>
          <p:cNvGrpSpPr/>
          <p:nvPr/>
        </p:nvGrpSpPr>
        <p:grpSpPr>
          <a:xfrm>
            <a:off x="170090" y="-54429"/>
            <a:ext cx="9148680" cy="5136480"/>
            <a:chOff x="0" y="0"/>
            <a:chExt cx="9148680" cy="5136480"/>
          </a:xfrm>
        </p:grpSpPr>
        <p:sp>
          <p:nvSpPr>
            <p:cNvPr id="62" name="Google Shape;132;p25"/>
            <p:cNvSpPr/>
            <p:nvPr/>
          </p:nvSpPr>
          <p:spPr>
            <a:xfrm>
              <a:off x="0" y="0"/>
              <a:ext cx="9148680" cy="5136480"/>
            </a:xfrm>
            <a:custGeom>
              <a:avLst/>
              <a:gdLst>
                <a:gd name="textAreaLeft" fmla="*/ 0 w 9148680"/>
                <a:gd name="textAreaRight" fmla="*/ 9149040 w 9148680"/>
                <a:gd name="textAreaTop" fmla="*/ 0 h 5136480"/>
                <a:gd name="textAreaBottom" fmla="*/ 5136840 h 5136480"/>
              </a:gdLst>
              <a:ahLst/>
              <a:cxnLst/>
              <a:rect l="textAreaLeft" t="textAreaTop" r="textAreaRight" b="textAreaBottom"/>
              <a:pathLst>
                <a:path w="4430471" h="2487524">
                  <a:moveTo>
                    <a:pt x="0" y="0"/>
                  </a:moveTo>
                  <a:lnTo>
                    <a:pt x="0" y="2487525"/>
                  </a:lnTo>
                  <a:lnTo>
                    <a:pt x="4430471" y="2487525"/>
                  </a:lnTo>
                  <a:lnTo>
                    <a:pt x="4430471" y="0"/>
                  </a:lnTo>
                  <a:lnTo>
                    <a:pt x="0" y="0"/>
                  </a:lnTo>
                  <a:close/>
                  <a:moveTo>
                    <a:pt x="4154720" y="1250731"/>
                  </a:moveTo>
                  <a:lnTo>
                    <a:pt x="2775598" y="1250501"/>
                  </a:lnTo>
                  <a:cubicBezTo>
                    <a:pt x="2772644" y="1250501"/>
                    <a:pt x="2769645" y="1250547"/>
                    <a:pt x="2766737" y="1250824"/>
                  </a:cubicBezTo>
                  <a:cubicBezTo>
                    <a:pt x="2715602" y="1255900"/>
                    <a:pt x="2674066" y="1299882"/>
                    <a:pt x="2668020" y="1350417"/>
                  </a:cubicBezTo>
                  <a:cubicBezTo>
                    <a:pt x="2656345" y="1448072"/>
                    <a:pt x="2684312" y="1589432"/>
                    <a:pt x="2665482" y="1680164"/>
                  </a:cubicBezTo>
                  <a:cubicBezTo>
                    <a:pt x="2661052" y="1701393"/>
                    <a:pt x="2647899" y="1721700"/>
                    <a:pt x="2630639" y="1736975"/>
                  </a:cubicBezTo>
                  <a:cubicBezTo>
                    <a:pt x="2611809" y="1753636"/>
                    <a:pt x="2587257" y="1762451"/>
                    <a:pt x="2562059" y="1762681"/>
                  </a:cubicBezTo>
                  <a:cubicBezTo>
                    <a:pt x="1794295" y="1769927"/>
                    <a:pt x="1023623" y="1772835"/>
                    <a:pt x="256137" y="1761251"/>
                  </a:cubicBezTo>
                  <a:cubicBezTo>
                    <a:pt x="233938" y="1760928"/>
                    <a:pt x="212063" y="1754097"/>
                    <a:pt x="194433" y="1740575"/>
                  </a:cubicBezTo>
                  <a:cubicBezTo>
                    <a:pt x="173619" y="1724607"/>
                    <a:pt x="159220" y="1701993"/>
                    <a:pt x="153959" y="1674626"/>
                  </a:cubicBezTo>
                  <a:cubicBezTo>
                    <a:pt x="152759" y="1668488"/>
                    <a:pt x="152344" y="1662211"/>
                    <a:pt x="152390" y="1655981"/>
                  </a:cubicBezTo>
                  <a:lnTo>
                    <a:pt x="154328" y="449001"/>
                  </a:lnTo>
                  <a:cubicBezTo>
                    <a:pt x="154328" y="426617"/>
                    <a:pt x="160928" y="404465"/>
                    <a:pt x="174496" y="386697"/>
                  </a:cubicBezTo>
                  <a:cubicBezTo>
                    <a:pt x="251752" y="285119"/>
                    <a:pt x="470507" y="394727"/>
                    <a:pt x="547071" y="304780"/>
                  </a:cubicBezTo>
                  <a:cubicBezTo>
                    <a:pt x="577807" y="268643"/>
                    <a:pt x="566777" y="236661"/>
                    <a:pt x="578223" y="197479"/>
                  </a:cubicBezTo>
                  <a:cubicBezTo>
                    <a:pt x="586345" y="169604"/>
                    <a:pt x="606467" y="147867"/>
                    <a:pt x="631250" y="134022"/>
                  </a:cubicBezTo>
                  <a:cubicBezTo>
                    <a:pt x="646803" y="125345"/>
                    <a:pt x="664432" y="121146"/>
                    <a:pt x="682200" y="121146"/>
                  </a:cubicBezTo>
                  <a:lnTo>
                    <a:pt x="4158597" y="122069"/>
                  </a:lnTo>
                  <a:cubicBezTo>
                    <a:pt x="4182549" y="122069"/>
                    <a:pt x="4206133" y="129730"/>
                    <a:pt x="4224685" y="144959"/>
                  </a:cubicBezTo>
                  <a:cubicBezTo>
                    <a:pt x="4240053" y="157559"/>
                    <a:pt x="4251960" y="173804"/>
                    <a:pt x="4258883" y="192910"/>
                  </a:cubicBezTo>
                  <a:cubicBezTo>
                    <a:pt x="4262759" y="203571"/>
                    <a:pt x="4264329" y="214924"/>
                    <a:pt x="4264421" y="226277"/>
                  </a:cubicBezTo>
                  <a:lnTo>
                    <a:pt x="4269128" y="1127970"/>
                  </a:lnTo>
                  <a:cubicBezTo>
                    <a:pt x="4269128" y="1131478"/>
                    <a:pt x="4269036" y="1134985"/>
                    <a:pt x="4268713" y="1138446"/>
                  </a:cubicBezTo>
                  <a:cubicBezTo>
                    <a:pt x="4262898" y="1194658"/>
                    <a:pt x="4232023" y="1234948"/>
                    <a:pt x="4178073" y="1248147"/>
                  </a:cubicBezTo>
                  <a:cubicBezTo>
                    <a:pt x="4170458" y="1249993"/>
                    <a:pt x="4162612" y="1250731"/>
                    <a:pt x="4154767" y="125073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3" name="Google Shape;133;p25"/>
            <p:cNvGrpSpPr/>
            <p:nvPr/>
          </p:nvGrpSpPr>
          <p:grpSpPr>
            <a:xfrm>
              <a:off x="318600" y="310320"/>
              <a:ext cx="8506440" cy="4516200"/>
              <a:chOff x="318600" y="310320"/>
              <a:chExt cx="8506440" cy="4516200"/>
            </a:xfrm>
          </p:grpSpPr>
          <p:sp>
            <p:nvSpPr>
              <p:cNvPr id="64" name="Google Shape;134;p25"/>
              <p:cNvSpPr/>
              <p:nvPr/>
            </p:nvSpPr>
            <p:spPr>
              <a:xfrm>
                <a:off x="318600" y="3884400"/>
                <a:ext cx="8506440" cy="94212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5" name="Google Shape;135;p25"/>
              <p:cNvGrpSpPr/>
              <p:nvPr/>
            </p:nvGrpSpPr>
            <p:grpSpPr>
              <a:xfrm>
                <a:off x="318600" y="310320"/>
                <a:ext cx="698400" cy="270360"/>
                <a:chOff x="318600" y="310320"/>
                <a:chExt cx="698400" cy="270360"/>
              </a:xfrm>
            </p:grpSpPr>
            <p:sp>
              <p:nvSpPr>
                <p:cNvPr id="66" name="Google Shape;136;p25"/>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7" name="Google Shape;137;p25"/>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138;p25"/>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Google Shape;139;p25"/>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grpSp>
      <p:sp>
        <p:nvSpPr>
          <p:cNvPr id="70" name="PlaceHolder 1"/>
          <p:cNvSpPr>
            <a:spLocks noGrp="1"/>
          </p:cNvSpPr>
          <p:nvPr>
            <p:ph type="title"/>
          </p:nvPr>
        </p:nvSpPr>
        <p:spPr>
          <a:xfrm>
            <a:off x="447840" y="3905280"/>
            <a:ext cx="8257680" cy="82836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4200" b="0" u="none" strike="noStrike" dirty="0">
                <a:solidFill>
                  <a:schemeClr val="dk1"/>
                </a:solidFill>
                <a:effectLst/>
                <a:uFillTx/>
                <a:latin typeface="Kodchasan SemiBold"/>
                <a:ea typeface="Kodchasan SemiBold"/>
              </a:rPr>
              <a:t> </a:t>
            </a:r>
            <a:r>
              <a:rPr lang="en-US" sz="4200" dirty="0">
                <a:solidFill>
                  <a:schemeClr val="dk1"/>
                </a:solidFill>
                <a:latin typeface="Kodchasan SemiBold"/>
                <a:ea typeface="Kodchasan SemiBold"/>
              </a:rPr>
              <a:t>T</a:t>
            </a:r>
            <a:r>
              <a:rPr lang="en" sz="4200" b="0" u="none" strike="noStrike" dirty="0">
                <a:solidFill>
                  <a:schemeClr val="dk1"/>
                </a:solidFill>
                <a:effectLst/>
                <a:uFillTx/>
                <a:latin typeface="Kodchasan SemiBold"/>
                <a:ea typeface="Kodchasan SemiBold"/>
              </a:rPr>
              <a:t>he Solar Cell Manufacturing </a:t>
            </a:r>
            <a:r>
              <a:rPr lang="en" sz="4200" dirty="0">
                <a:solidFill>
                  <a:schemeClr val="dk1"/>
                </a:solidFill>
                <a:latin typeface="Kodchasan SemiBold"/>
                <a:ea typeface="Kodchasan SemiBold"/>
              </a:rPr>
              <a:t>process</a:t>
            </a:r>
            <a:endParaRPr lang="fr-FR" sz="4200" b="0" u="none" strike="noStrike" dirty="0">
              <a:solidFill>
                <a:schemeClr val="dk1"/>
              </a:solidFill>
              <a:effectLst/>
              <a:uFillTx/>
              <a:latin typeface="Arial"/>
            </a:endParaRPr>
          </a:p>
        </p:txBody>
      </p:sp>
      <p:sp>
        <p:nvSpPr>
          <p:cNvPr id="71" name="PlaceHolder 2"/>
          <p:cNvSpPr>
            <a:spLocks noGrp="1"/>
          </p:cNvSpPr>
          <p:nvPr>
            <p:ph type="subTitle"/>
          </p:nvPr>
        </p:nvSpPr>
        <p:spPr>
          <a:xfrm>
            <a:off x="5676840" y="2638440"/>
            <a:ext cx="3142800" cy="10378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u="none" strike="noStrike" dirty="0">
                <a:solidFill>
                  <a:schemeClr val="dk1"/>
                </a:solidFill>
                <a:effectLst/>
                <a:uFillTx/>
                <a:latin typeface="Amiko"/>
                <a:ea typeface="Amiko"/>
              </a:rPr>
              <a:t>Maximizing Efficiency and Performance in Solar Cell Production</a:t>
            </a:r>
            <a:endParaRPr lang="en-US" sz="1600" b="0" u="none" strike="noStrike" dirty="0">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2900" b="0" u="none" strike="noStrike">
                <a:solidFill>
                  <a:schemeClr val="dk1"/>
                </a:solidFill>
                <a:effectLst/>
                <a:uFillTx/>
                <a:latin typeface="Kodchasan SemiBold"/>
                <a:ea typeface="Kodchasan SemiBold"/>
              </a:rPr>
              <a:t>Introduction</a:t>
            </a:r>
            <a:endParaRPr lang="fr-FR" sz="2900" b="0" u="none" strike="noStrike">
              <a:solidFill>
                <a:schemeClr val="dk1"/>
              </a:solidFill>
              <a:effectLst/>
              <a:uFillTx/>
              <a:latin typeface="Arial"/>
            </a:endParaRPr>
          </a:p>
        </p:txBody>
      </p:sp>
      <p:sp>
        <p:nvSpPr>
          <p:cNvPr id="73" name="PlaceHolder 2"/>
          <p:cNvSpPr>
            <a:spLocks noGrp="1"/>
          </p:cNvSpPr>
          <p:nvPr>
            <p:ph type="subTitle"/>
          </p:nvPr>
        </p:nvSpPr>
        <p:spPr>
          <a:xfrm>
            <a:off x="455274" y="2114894"/>
            <a:ext cx="4168765" cy="1735993"/>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u="none" strike="noStrike" dirty="0">
                <a:solidFill>
                  <a:schemeClr val="dk1"/>
                </a:solidFill>
                <a:effectLst/>
                <a:uFillTx/>
                <a:latin typeface="Amiko"/>
                <a:ea typeface="Amiko"/>
              </a:rPr>
              <a:t>This presentation outlines the critical steps leading to the successful output of a solar cell working model. It highlights the manufacturing process, from doping and coating to final assembly and testing. Emphasizing precision and optimization, we aim to deliver a comprehensive understanding of how solar cells effectively convert sunlight into usable energy.</a:t>
            </a:r>
            <a:endParaRPr lang="en-US" sz="1400" b="0" u="none" strike="noStrike" dirty="0">
              <a:solidFill>
                <a:srgbClr val="000000"/>
              </a:solidFill>
              <a:effectLst/>
              <a:uFillTx/>
              <a:latin typeface="OpenSymbol"/>
            </a:endParaRPr>
          </a:p>
        </p:txBody>
      </p:sp>
      <p:pic>
        <p:nvPicPr>
          <p:cNvPr id="16386" name="Picture 2" descr="Powering the Future: Inside the Solar PV Cell Manufacturing Process - Mose  Solar">
            <a:extLst>
              <a:ext uri="{FF2B5EF4-FFF2-40B4-BE49-F238E27FC236}">
                <a16:creationId xmlns:a16="http://schemas.microsoft.com/office/drawing/2014/main" id="{863A61B2-B72A-4BDB-92A4-CBD300B0AC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7381" y="1371114"/>
            <a:ext cx="3662100" cy="34053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Google Shape;213;p28"/>
          <p:cNvPicPr/>
          <p:nvPr/>
        </p:nvPicPr>
        <p:blipFill>
          <a:blip r:embed="rId2"/>
          <a:srcRect t="19614" b="19614"/>
          <a:stretch/>
        </p:blipFill>
        <p:spPr>
          <a:xfrm flipH="1">
            <a:off x="78120" y="1459440"/>
            <a:ext cx="8991000" cy="3605040"/>
          </a:xfrm>
          <a:prstGeom prst="rect">
            <a:avLst/>
          </a:prstGeom>
          <a:noFill/>
          <a:ln w="0">
            <a:noFill/>
          </a:ln>
        </p:spPr>
      </p:pic>
      <p:grpSp>
        <p:nvGrpSpPr>
          <p:cNvPr id="75" name="Google Shape;214;p28"/>
          <p:cNvGrpSpPr/>
          <p:nvPr/>
        </p:nvGrpSpPr>
        <p:grpSpPr>
          <a:xfrm>
            <a:off x="11575" y="0"/>
            <a:ext cx="9148680" cy="5220720"/>
            <a:chOff x="0" y="0"/>
            <a:chExt cx="9148680" cy="5220720"/>
          </a:xfrm>
        </p:grpSpPr>
        <p:sp>
          <p:nvSpPr>
            <p:cNvPr id="76" name="Google Shape;215;p28"/>
            <p:cNvSpPr/>
            <p:nvPr/>
          </p:nvSpPr>
          <p:spPr>
            <a:xfrm>
              <a:off x="0" y="0"/>
              <a:ext cx="9148680" cy="5220720"/>
            </a:xfrm>
            <a:custGeom>
              <a:avLst/>
              <a:gdLst>
                <a:gd name="textAreaLeft" fmla="*/ 0 w 9148680"/>
                <a:gd name="textAreaRight" fmla="*/ 9149040 w 9148680"/>
                <a:gd name="textAreaTop" fmla="*/ 0 h 5220720"/>
                <a:gd name="textAreaBottom" fmla="*/ 5221080 h 5220720"/>
              </a:gdLst>
              <a:ahLst/>
              <a:cxnLst/>
              <a:rect l="textAreaLeft" t="textAreaTop" r="textAreaRight" b="textAreaBottom"/>
              <a:pathLst>
                <a:path w="4430471" h="2492139">
                  <a:moveTo>
                    <a:pt x="4430471" y="0"/>
                  </a:moveTo>
                  <a:lnTo>
                    <a:pt x="4430471" y="2492140"/>
                  </a:lnTo>
                  <a:lnTo>
                    <a:pt x="0" y="2492140"/>
                  </a:lnTo>
                  <a:lnTo>
                    <a:pt x="0" y="0"/>
                  </a:lnTo>
                  <a:lnTo>
                    <a:pt x="4430471" y="0"/>
                  </a:lnTo>
                  <a:close/>
                  <a:moveTo>
                    <a:pt x="266290" y="876449"/>
                  </a:moveTo>
                  <a:cubicBezTo>
                    <a:pt x="214093" y="885863"/>
                    <a:pt x="171635" y="930814"/>
                    <a:pt x="166004" y="983565"/>
                  </a:cubicBezTo>
                  <a:lnTo>
                    <a:pt x="165774" y="1720730"/>
                  </a:lnTo>
                  <a:cubicBezTo>
                    <a:pt x="169373" y="1776942"/>
                    <a:pt x="214462" y="1823923"/>
                    <a:pt x="269659" y="1833430"/>
                  </a:cubicBezTo>
                  <a:lnTo>
                    <a:pt x="1030546" y="1833200"/>
                  </a:lnTo>
                  <a:cubicBezTo>
                    <a:pt x="1261715" y="1864536"/>
                    <a:pt x="1033546" y="2246249"/>
                    <a:pt x="1231763" y="2295492"/>
                  </a:cubicBezTo>
                  <a:lnTo>
                    <a:pt x="4156290" y="2298815"/>
                  </a:lnTo>
                  <a:cubicBezTo>
                    <a:pt x="4211024" y="2295076"/>
                    <a:pt x="4254545" y="2254648"/>
                    <a:pt x="4267006" y="2202129"/>
                  </a:cubicBezTo>
                  <a:lnTo>
                    <a:pt x="4269036" y="988134"/>
                  </a:lnTo>
                  <a:cubicBezTo>
                    <a:pt x="4262067" y="926476"/>
                    <a:pt x="4215408" y="876633"/>
                    <a:pt x="4151721" y="875018"/>
                  </a:cubicBezTo>
                  <a:lnTo>
                    <a:pt x="266244" y="876403"/>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7" name="Google Shape;216;p28"/>
            <p:cNvGrpSpPr/>
            <p:nvPr/>
          </p:nvGrpSpPr>
          <p:grpSpPr>
            <a:xfrm>
              <a:off x="318600" y="310320"/>
              <a:ext cx="8506800" cy="945360"/>
              <a:chOff x="318600" y="310320"/>
              <a:chExt cx="8506800" cy="945360"/>
            </a:xfrm>
          </p:grpSpPr>
          <p:sp>
            <p:nvSpPr>
              <p:cNvPr id="78" name="Google Shape;217;p28"/>
              <p:cNvSpPr/>
              <p:nvPr/>
            </p:nvSpPr>
            <p:spPr>
              <a:xfrm>
                <a:off x="1146240" y="313560"/>
                <a:ext cx="7679160" cy="94212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9" name="Google Shape;218;p28"/>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219;p28"/>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220;p28"/>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221;p28"/>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83" name="PlaceHolder 1"/>
          <p:cNvSpPr>
            <a:spLocks noGrp="1"/>
          </p:cNvSpPr>
          <p:nvPr>
            <p:ph type="title"/>
          </p:nvPr>
        </p:nvSpPr>
        <p:spPr>
          <a:xfrm>
            <a:off x="1285920" y="476280"/>
            <a:ext cx="7543440" cy="704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900" b="0" u="none" strike="noStrike" dirty="0">
                <a:solidFill>
                  <a:schemeClr val="dk1"/>
                </a:solidFill>
                <a:effectLst/>
                <a:uFillTx/>
                <a:latin typeface="Kodchasan SemiBold"/>
                <a:ea typeface="Kodchasan SemiBold"/>
              </a:rPr>
              <a:t>Manufacturing Process Overview</a:t>
            </a:r>
            <a:endParaRPr lang="fr-FR" sz="2900" b="0" u="none" strike="noStrike" dirty="0">
              <a:solidFill>
                <a:schemeClr val="dk1"/>
              </a:solidFill>
              <a:effectLst/>
              <a:uFillTx/>
              <a:latin typeface="Arial"/>
            </a:endParaRPr>
          </a:p>
        </p:txBody>
      </p:sp>
      <p:sp>
        <p:nvSpPr>
          <p:cNvPr id="84" name="PlaceHolder 2"/>
          <p:cNvSpPr>
            <a:spLocks noGrp="1"/>
          </p:cNvSpPr>
          <p:nvPr>
            <p:ph type="title"/>
          </p:nvPr>
        </p:nvSpPr>
        <p:spPr>
          <a:xfrm>
            <a:off x="438120" y="3867120"/>
            <a:ext cx="1647360" cy="91404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b="0" u="none" strike="noStrike">
                <a:solidFill>
                  <a:schemeClr val="dk1"/>
                </a:solidFill>
                <a:effectLst/>
                <a:uFillTx/>
                <a:latin typeface="Kodchasan SemiBold"/>
                <a:ea typeface="Kodchasan SemiBold"/>
              </a:rPr>
              <a:t>01</a:t>
            </a:r>
            <a:endParaRPr lang="fr-FR" sz="6000" b="0" u="none" strike="noStrike">
              <a:solidFill>
                <a:schemeClr val="dk1"/>
              </a:solidFill>
              <a:effectLst/>
              <a:uFillTx/>
              <a:latin typeface="Arial"/>
            </a:endParaRPr>
          </a:p>
        </p:txBody>
      </p:sp>
      <p:sp>
        <p:nvSpPr>
          <p:cNvPr id="85" name="PlaceHolder 3"/>
          <p:cNvSpPr>
            <a:spLocks noGrp="1"/>
          </p:cNvSpPr>
          <p:nvPr>
            <p:ph type="subTitle"/>
          </p:nvPr>
        </p:nvSpPr>
        <p:spPr>
          <a:xfrm>
            <a:off x="1143000" y="1314360"/>
            <a:ext cx="7676640" cy="447480"/>
          </a:xfrm>
          <a:prstGeom prst="rect">
            <a:avLst/>
          </a:prstGeom>
          <a:noFill/>
          <a:ln w="0">
            <a:noFill/>
          </a:ln>
        </p:spPr>
        <p:txBody>
          <a:bodyPr lIns="91440" tIns="91440" rIns="91440" bIns="91440" anchor="t">
            <a:normAutofit lnSpcReduction="9999"/>
          </a:bodyPr>
          <a:lstStyle/>
          <a:p>
            <a:pPr indent="0" algn="ctr">
              <a:buNone/>
            </a:pPr>
            <a:endParaRPr lang="en-US" sz="1600" b="0" u="none" strike="noStrike">
              <a:solidFill>
                <a:schemeClr val="dk1"/>
              </a:solidFill>
              <a:effectLst/>
              <a:uFillTx/>
              <a:latin typeface="Amiko"/>
              <a:ea typeface="Amik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Google Shape;236;p30"/>
          <p:cNvGrpSpPr/>
          <p:nvPr/>
        </p:nvGrpSpPr>
        <p:grpSpPr>
          <a:xfrm>
            <a:off x="-81429" y="-20214"/>
            <a:ext cx="9143640" cy="5145480"/>
            <a:chOff x="0" y="0"/>
            <a:chExt cx="9143640" cy="5145480"/>
          </a:xfrm>
        </p:grpSpPr>
        <p:sp>
          <p:nvSpPr>
            <p:cNvPr id="132"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2600" b="0" u="none" strike="noStrike">
                <a:solidFill>
                  <a:srgbClr val="000000"/>
                </a:solidFill>
                <a:effectLst/>
                <a:uFillTx/>
                <a:latin typeface="Kodchasan SemiBold"/>
              </a:endParaRPr>
            </a:p>
          </p:txBody>
        </p:sp>
        <p:grpSp>
          <p:nvGrpSpPr>
            <p:cNvPr id="133" name="Google Shape;238;p30"/>
            <p:cNvGrpSpPr/>
            <p:nvPr/>
          </p:nvGrpSpPr>
          <p:grpSpPr>
            <a:xfrm>
              <a:off x="318600" y="310320"/>
              <a:ext cx="8506440" cy="451080"/>
              <a:chOff x="318600" y="310320"/>
              <a:chExt cx="8506440" cy="451080"/>
            </a:xfrm>
          </p:grpSpPr>
          <p:grpSp>
            <p:nvGrpSpPr>
              <p:cNvPr id="134" name="Google Shape;239;p30"/>
              <p:cNvGrpSpPr/>
              <p:nvPr/>
            </p:nvGrpSpPr>
            <p:grpSpPr>
              <a:xfrm>
                <a:off x="318600" y="310320"/>
                <a:ext cx="698400" cy="270360"/>
                <a:chOff x="318600" y="310320"/>
                <a:chExt cx="698400" cy="270360"/>
              </a:xfrm>
            </p:grpSpPr>
            <p:sp>
              <p:nvSpPr>
                <p:cNvPr id="135"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6"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7"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8"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FFFFFF"/>
                    </a:solidFill>
                    <a:effectLst/>
                    <a:uFillTx/>
                    <a:latin typeface="Kodchasan SemiBold"/>
                  </a:endParaRPr>
                </a:p>
              </p:txBody>
            </p:sp>
          </p:grpSp>
          <p:sp>
            <p:nvSpPr>
              <p:cNvPr id="139"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grpSp>
      </p:grpSp>
      <p:sp>
        <p:nvSpPr>
          <p:cNvPr id="140"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fontScale="90000"/>
          </a:bodyPr>
          <a:lstStyle/>
          <a:p>
            <a:pPr indent="0" algn="r">
              <a:lnSpc>
                <a:spcPct val="100000"/>
              </a:lnSpc>
              <a:buNone/>
              <a:tabLst>
                <a:tab pos="0" algn="l"/>
              </a:tabLst>
            </a:pPr>
            <a:r>
              <a:rPr lang="en-US" dirty="0"/>
              <a:t> Silicon Processing &amp; </a:t>
            </a:r>
            <a:r>
              <a:rPr lang="en-US" sz="2900" dirty="0">
                <a:latin typeface="Kodchasan SemiBold"/>
              </a:rPr>
              <a:t>Purification</a:t>
            </a:r>
            <a:br>
              <a:rPr lang="en-US" dirty="0"/>
            </a:br>
            <a:endParaRPr lang="fr-FR" sz="2900" b="0" u="none" strike="noStrike" dirty="0">
              <a:solidFill>
                <a:schemeClr val="dk1"/>
              </a:solidFill>
              <a:effectLst/>
              <a:uFillTx/>
              <a:latin typeface="Arial"/>
            </a:endParaRPr>
          </a:p>
        </p:txBody>
      </p:sp>
      <p:sp>
        <p:nvSpPr>
          <p:cNvPr id="141" name="PlaceHolder 2"/>
          <p:cNvSpPr>
            <a:spLocks noGrp="1"/>
          </p:cNvSpPr>
          <p:nvPr>
            <p:ph type="subTitle"/>
          </p:nvPr>
        </p:nvSpPr>
        <p:spPr>
          <a:xfrm>
            <a:off x="4676760" y="1013200"/>
            <a:ext cx="4152600" cy="2088140"/>
          </a:xfrm>
          <a:prstGeom prst="rect">
            <a:avLst/>
          </a:prstGeom>
          <a:noFill/>
          <a:ln w="0">
            <a:noFill/>
          </a:ln>
        </p:spPr>
        <p:txBody>
          <a:bodyPr lIns="91440" tIns="91440" rIns="91440" bIns="91440" anchor="t">
            <a:normAutofit/>
          </a:bodyPr>
          <a:lstStyle/>
          <a:p>
            <a:pPr indent="0">
              <a:lnSpc>
                <a:spcPct val="100000"/>
              </a:lnSpc>
              <a:buNone/>
              <a:tabLst>
                <a:tab pos="0" algn="l"/>
              </a:tabLst>
            </a:pPr>
            <a:endParaRPr lang="en" sz="1400" dirty="0">
              <a:solidFill>
                <a:schemeClr val="dk1"/>
              </a:solidFill>
              <a:latin typeface="Amiko"/>
            </a:endParaRPr>
          </a:p>
          <a:p>
            <a:pPr indent="0">
              <a:lnSpc>
                <a:spcPct val="100000"/>
              </a:lnSpc>
              <a:buNone/>
              <a:tabLst>
                <a:tab pos="0" algn="l"/>
              </a:tabLst>
            </a:pPr>
            <a:r>
              <a:rPr lang="en-US" sz="1400" b="0" u="none" strike="noStrike" dirty="0">
                <a:solidFill>
                  <a:srgbClr val="000000"/>
                </a:solidFill>
                <a:effectLst/>
                <a:uFillTx/>
                <a:latin typeface="Amiko"/>
              </a:rPr>
              <a:t>  Start with </a:t>
            </a:r>
            <a:r>
              <a:rPr lang="en-US" sz="1400" b="0" u="none" strike="noStrike" dirty="0" err="1">
                <a:solidFill>
                  <a:srgbClr val="000000"/>
                </a:solidFill>
                <a:effectLst/>
                <a:uFillTx/>
                <a:latin typeface="Amiko"/>
              </a:rPr>
              <a:t>quartzsand</a:t>
            </a:r>
            <a:r>
              <a:rPr lang="en-US" sz="1400" b="0" u="none" strike="noStrike" dirty="0">
                <a:solidFill>
                  <a:srgbClr val="000000"/>
                </a:solidFill>
                <a:effectLst/>
                <a:uFillTx/>
                <a:latin typeface="Amiko"/>
              </a:rPr>
              <a:t> (SiO2)</a:t>
            </a:r>
          </a:p>
          <a:p>
            <a:pPr indent="0">
              <a:lnSpc>
                <a:spcPct val="100000"/>
              </a:lnSpc>
              <a:buNone/>
              <a:tabLst>
                <a:tab pos="0" algn="l"/>
              </a:tabLst>
            </a:pPr>
            <a:endParaRPr lang="en-US" sz="1400" b="0" u="none" strike="noStrike" dirty="0">
              <a:solidFill>
                <a:srgbClr val="000000"/>
              </a:solidFill>
              <a:effectLst/>
              <a:uFillTx/>
              <a:latin typeface="OpenSymbol"/>
            </a:endParaRPr>
          </a:p>
        </p:txBody>
      </p:sp>
      <p:sp>
        <p:nvSpPr>
          <p:cNvPr id="4" name="Rectangle 3">
            <a:extLst>
              <a:ext uri="{FF2B5EF4-FFF2-40B4-BE49-F238E27FC236}">
                <a16:creationId xmlns:a16="http://schemas.microsoft.com/office/drawing/2014/main" id="{EA6D3549-236A-465A-8B4D-6B663964A1E8}"/>
              </a:ext>
            </a:extLst>
          </p:cNvPr>
          <p:cNvSpPr>
            <a:spLocks noChangeArrowheads="1"/>
          </p:cNvSpPr>
          <p:nvPr/>
        </p:nvSpPr>
        <p:spPr bwMode="auto">
          <a:xfrm>
            <a:off x="4676760" y="1607164"/>
            <a:ext cx="4555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miko"/>
              </a:rPr>
              <a:t>        Reduce in an electric arc furnace → metallurgical-grade silicon.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miko"/>
              </a:rPr>
              <a:t>        Further purified (via Siemens process) to electronic-grade silicon (99.9999%).</a:t>
            </a:r>
          </a:p>
        </p:txBody>
      </p:sp>
      <p:pic>
        <p:nvPicPr>
          <p:cNvPr id="2053" name="Picture 5" descr="Solar Panel Manufacturing Process: Step ...">
            <a:extLst>
              <a:ext uri="{FF2B5EF4-FFF2-40B4-BE49-F238E27FC236}">
                <a16:creationId xmlns:a16="http://schemas.microsoft.com/office/drawing/2014/main" id="{1521084F-2E62-4D21-B270-75E9EC147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9" y="1055225"/>
            <a:ext cx="4058278" cy="359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874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Google Shape;235;p30"/>
          <p:cNvPicPr/>
          <p:nvPr/>
        </p:nvPicPr>
        <p:blipFill>
          <a:blip r:embed="rId2"/>
          <a:srcRect l="16759" r="16759"/>
          <a:stretch/>
        </p:blipFill>
        <p:spPr>
          <a:xfrm>
            <a:off x="0" y="1049400"/>
            <a:ext cx="4083480" cy="4093560"/>
          </a:xfrm>
          <a:prstGeom prst="rect">
            <a:avLst/>
          </a:prstGeom>
          <a:noFill/>
          <a:ln w="0">
            <a:noFill/>
          </a:ln>
        </p:spPr>
      </p:pic>
      <p:grpSp>
        <p:nvGrpSpPr>
          <p:cNvPr id="89" name="Google Shape;236;p30"/>
          <p:cNvGrpSpPr/>
          <p:nvPr/>
        </p:nvGrpSpPr>
        <p:grpSpPr>
          <a:xfrm>
            <a:off x="104940" y="-2520"/>
            <a:ext cx="9143640" cy="5145480"/>
            <a:chOff x="0" y="0"/>
            <a:chExt cx="9143640" cy="5145480"/>
          </a:xfrm>
        </p:grpSpPr>
        <p:sp>
          <p:nvSpPr>
            <p:cNvPr id="90"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1" name="Google Shape;238;p30"/>
            <p:cNvGrpSpPr/>
            <p:nvPr/>
          </p:nvGrpSpPr>
          <p:grpSpPr>
            <a:xfrm>
              <a:off x="318600" y="310320"/>
              <a:ext cx="8506440" cy="451080"/>
              <a:chOff x="318600" y="310320"/>
              <a:chExt cx="8506440" cy="451080"/>
            </a:xfrm>
          </p:grpSpPr>
          <p:grpSp>
            <p:nvGrpSpPr>
              <p:cNvPr id="92" name="Google Shape;239;p30"/>
              <p:cNvGrpSpPr/>
              <p:nvPr/>
            </p:nvGrpSpPr>
            <p:grpSpPr>
              <a:xfrm>
                <a:off x="318600" y="310320"/>
                <a:ext cx="698400" cy="270360"/>
                <a:chOff x="318600" y="310320"/>
                <a:chExt cx="698400" cy="270360"/>
              </a:xfrm>
            </p:grpSpPr>
            <p:sp>
              <p:nvSpPr>
                <p:cNvPr id="93"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7"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8"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2900" b="0" u="none" strike="noStrike">
                <a:solidFill>
                  <a:schemeClr val="dk1"/>
                </a:solidFill>
                <a:effectLst/>
                <a:uFillTx/>
                <a:latin typeface="Kodchasan SemiBold"/>
                <a:ea typeface="Kodchasan SemiBold"/>
              </a:rPr>
              <a:t>Anti-Reflective Coating (ARC)</a:t>
            </a:r>
            <a:endParaRPr lang="fr-FR" sz="2900" b="0" u="none" strike="noStrike">
              <a:solidFill>
                <a:schemeClr val="dk1"/>
              </a:solidFill>
              <a:effectLst/>
              <a:uFillTx/>
              <a:latin typeface="Arial"/>
            </a:endParaRPr>
          </a:p>
        </p:txBody>
      </p:sp>
      <p:sp>
        <p:nvSpPr>
          <p:cNvPr id="99" name="PlaceHolder 2"/>
          <p:cNvSpPr>
            <a:spLocks noGrp="1"/>
          </p:cNvSpPr>
          <p:nvPr>
            <p:ph type="subTitle"/>
          </p:nvPr>
        </p:nvSpPr>
        <p:spPr>
          <a:xfrm>
            <a:off x="4957380" y="1763280"/>
            <a:ext cx="4152600" cy="37144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u="none" strike="noStrike" dirty="0">
                <a:solidFill>
                  <a:schemeClr val="dk1"/>
                </a:solidFill>
                <a:effectLst/>
                <a:uFillTx/>
                <a:latin typeface="Amiko"/>
                <a:ea typeface="Amiko"/>
              </a:rPr>
              <a:t>The implementation of an anti-reflective coating significantly enhances light absorption in solar cells. By reducing reflection, this step boosts the overall efficiency of solar energy conversion, ensuring maximum output.</a:t>
            </a:r>
            <a:endParaRPr lang="en-US" sz="1400" b="0" u="none" strike="noStrike" dirty="0">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Google Shape;235;p30"/>
          <p:cNvPicPr/>
          <p:nvPr/>
        </p:nvPicPr>
        <p:blipFill>
          <a:blip r:embed="rId2"/>
          <a:srcRect l="16759" r="16759"/>
          <a:stretch/>
        </p:blipFill>
        <p:spPr>
          <a:xfrm>
            <a:off x="0" y="1049400"/>
            <a:ext cx="4083480" cy="4093560"/>
          </a:xfrm>
          <a:prstGeom prst="rect">
            <a:avLst/>
          </a:prstGeom>
          <a:noFill/>
          <a:ln w="0">
            <a:noFill/>
          </a:ln>
        </p:spPr>
      </p:pic>
      <p:grpSp>
        <p:nvGrpSpPr>
          <p:cNvPr id="131" name="Google Shape;236;p30"/>
          <p:cNvGrpSpPr/>
          <p:nvPr/>
        </p:nvGrpSpPr>
        <p:grpSpPr>
          <a:xfrm>
            <a:off x="-104579" y="-33000"/>
            <a:ext cx="9143640" cy="5145480"/>
            <a:chOff x="0" y="0"/>
            <a:chExt cx="9143640" cy="5145480"/>
          </a:xfrm>
        </p:grpSpPr>
        <p:sp>
          <p:nvSpPr>
            <p:cNvPr id="132"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marL="457200" indent="-457200" defTabSz="914400">
                <a:lnSpc>
                  <a:spcPct val="100000"/>
                </a:lnSpc>
                <a:buFont typeface="Arial" panose="020B0604020202020204" pitchFamily="34" charset="0"/>
                <a:buChar char="•"/>
                <a:tabLst>
                  <a:tab pos="0" algn="l"/>
                </a:tabLst>
              </a:pPr>
              <a:endParaRPr lang="en-US" sz="2600" b="0" u="none" strike="noStrike" dirty="0">
                <a:solidFill>
                  <a:srgbClr val="000000"/>
                </a:solidFill>
                <a:effectLst/>
                <a:uFillTx/>
                <a:latin typeface="Kodchasan SemiBold"/>
              </a:endParaRPr>
            </a:p>
          </p:txBody>
        </p:sp>
        <p:grpSp>
          <p:nvGrpSpPr>
            <p:cNvPr id="133" name="Google Shape;238;p30"/>
            <p:cNvGrpSpPr/>
            <p:nvPr/>
          </p:nvGrpSpPr>
          <p:grpSpPr>
            <a:xfrm>
              <a:off x="318600" y="310320"/>
              <a:ext cx="8506440" cy="451080"/>
              <a:chOff x="318600" y="310320"/>
              <a:chExt cx="8506440" cy="451080"/>
            </a:xfrm>
          </p:grpSpPr>
          <p:grpSp>
            <p:nvGrpSpPr>
              <p:cNvPr id="134" name="Google Shape;239;p30"/>
              <p:cNvGrpSpPr/>
              <p:nvPr/>
            </p:nvGrpSpPr>
            <p:grpSpPr>
              <a:xfrm>
                <a:off x="318600" y="310320"/>
                <a:ext cx="698400" cy="270360"/>
                <a:chOff x="318600" y="310320"/>
                <a:chExt cx="698400" cy="270360"/>
              </a:xfrm>
            </p:grpSpPr>
            <p:sp>
              <p:nvSpPr>
                <p:cNvPr id="135"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6"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7"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8"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FFFFFF"/>
                    </a:solidFill>
                    <a:effectLst/>
                    <a:uFillTx/>
                    <a:latin typeface="Kodchasan SemiBold"/>
                  </a:endParaRPr>
                </a:p>
              </p:txBody>
            </p:sp>
          </p:grpSp>
          <p:sp>
            <p:nvSpPr>
              <p:cNvPr id="139"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grpSp>
      </p:grpSp>
      <p:sp>
        <p:nvSpPr>
          <p:cNvPr id="140"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Autofit/>
          </a:bodyPr>
          <a:lstStyle/>
          <a:p>
            <a:pPr indent="0" algn="r">
              <a:lnSpc>
                <a:spcPct val="100000"/>
              </a:lnSpc>
              <a:buNone/>
              <a:tabLst>
                <a:tab pos="0" algn="l"/>
              </a:tabLst>
            </a:pPr>
            <a:r>
              <a:rPr lang="en-US" sz="2900" dirty="0">
                <a:latin typeface="Kodchasan SemiBold"/>
              </a:rPr>
              <a:t> Ingot Formation</a:t>
            </a:r>
            <a:br>
              <a:rPr lang="en-US" sz="2900" dirty="0">
                <a:latin typeface="Kodchasan SemiBold"/>
              </a:rPr>
            </a:br>
            <a:br>
              <a:rPr lang="en-US" sz="2900" dirty="0">
                <a:latin typeface="Kodchasan SemiBold"/>
              </a:rPr>
            </a:br>
            <a:endParaRPr lang="fr-FR" sz="2900" b="0" u="none" strike="noStrike" dirty="0">
              <a:solidFill>
                <a:schemeClr val="dk1"/>
              </a:solidFill>
              <a:effectLst/>
              <a:uFillTx/>
              <a:latin typeface="Kodchasan SemiBold"/>
            </a:endParaRPr>
          </a:p>
        </p:txBody>
      </p:sp>
      <p:sp>
        <p:nvSpPr>
          <p:cNvPr id="4" name="Rectangle 3">
            <a:extLst>
              <a:ext uri="{FF2B5EF4-FFF2-40B4-BE49-F238E27FC236}">
                <a16:creationId xmlns:a16="http://schemas.microsoft.com/office/drawing/2014/main" id="{EA6D3549-236A-465A-8B4D-6B663964A1E8}"/>
              </a:ext>
            </a:extLst>
          </p:cNvPr>
          <p:cNvSpPr>
            <a:spLocks noChangeArrowheads="1"/>
          </p:cNvSpPr>
          <p:nvPr/>
        </p:nvSpPr>
        <p:spPr bwMode="auto">
          <a:xfrm>
            <a:off x="4483261" y="1535148"/>
            <a:ext cx="4555800"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US" altLang="en-US" sz="1400" b="0" i="0" u="none" strike="noStrike" cap="none" normalizeH="0" baseline="0" dirty="0">
                <a:ln>
                  <a:noFill/>
                </a:ln>
                <a:solidFill>
                  <a:schemeClr val="tx1"/>
                </a:solidFill>
                <a:effectLst/>
                <a:latin typeface="Amiko"/>
              </a:rPr>
              <a:t> </a:t>
            </a:r>
            <a:r>
              <a:rPr lang="en-US" dirty="0">
                <a:latin typeface="Amiko"/>
              </a:rPr>
              <a:t>Melt purified silicon at high temperature </a:t>
            </a:r>
          </a:p>
          <a:p>
            <a:r>
              <a:rPr lang="en-US" dirty="0">
                <a:latin typeface="Amiko"/>
              </a:rPr>
              <a:t>Use </a:t>
            </a:r>
            <a:r>
              <a:rPr lang="en-US" dirty="0" err="1">
                <a:latin typeface="Amiko"/>
              </a:rPr>
              <a:t>Czochralski</a:t>
            </a:r>
            <a:r>
              <a:rPr lang="en-US" dirty="0">
                <a:latin typeface="Amiko"/>
              </a:rPr>
              <a:t> method to grow single crystal silicon ingot</a:t>
            </a:r>
          </a:p>
          <a:p>
            <a:r>
              <a:rPr lang="en-US" dirty="0">
                <a:latin typeface="Amiko"/>
              </a:rPr>
              <a:t>Result: Cylindrical silicon ingot for wafer slicing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miko"/>
            </a:endParaRPr>
          </a:p>
        </p:txBody>
      </p:sp>
    </p:spTree>
    <p:extLst>
      <p:ext uri="{BB962C8B-B14F-4D97-AF65-F5344CB8AC3E}">
        <p14:creationId xmlns:p14="http://schemas.microsoft.com/office/powerpoint/2010/main" val="2110789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Google Shape;236;p30"/>
          <p:cNvGrpSpPr/>
          <p:nvPr/>
        </p:nvGrpSpPr>
        <p:grpSpPr>
          <a:xfrm>
            <a:off x="-184077" y="-10160"/>
            <a:ext cx="9143640" cy="5145480"/>
            <a:chOff x="0" y="0"/>
            <a:chExt cx="9143640" cy="5145480"/>
          </a:xfrm>
        </p:grpSpPr>
        <p:sp>
          <p:nvSpPr>
            <p:cNvPr id="132"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marL="457200" indent="-457200" defTabSz="914400">
                <a:lnSpc>
                  <a:spcPct val="100000"/>
                </a:lnSpc>
                <a:buFont typeface="Arial" panose="020B0604020202020204" pitchFamily="34" charset="0"/>
                <a:buChar char="•"/>
                <a:tabLst>
                  <a:tab pos="0" algn="l"/>
                </a:tabLst>
              </a:pPr>
              <a:endParaRPr lang="en-US" sz="2600" b="0" u="none" strike="noStrike" dirty="0">
                <a:solidFill>
                  <a:srgbClr val="000000"/>
                </a:solidFill>
                <a:effectLst/>
                <a:uFillTx/>
                <a:latin typeface="Kodchasan SemiBold"/>
              </a:endParaRPr>
            </a:p>
          </p:txBody>
        </p:sp>
        <p:grpSp>
          <p:nvGrpSpPr>
            <p:cNvPr id="133" name="Google Shape;238;p30"/>
            <p:cNvGrpSpPr/>
            <p:nvPr/>
          </p:nvGrpSpPr>
          <p:grpSpPr>
            <a:xfrm>
              <a:off x="318600" y="310320"/>
              <a:ext cx="8506440" cy="451080"/>
              <a:chOff x="318600" y="310320"/>
              <a:chExt cx="8506440" cy="451080"/>
            </a:xfrm>
          </p:grpSpPr>
          <p:grpSp>
            <p:nvGrpSpPr>
              <p:cNvPr id="134" name="Google Shape;239;p30"/>
              <p:cNvGrpSpPr/>
              <p:nvPr/>
            </p:nvGrpSpPr>
            <p:grpSpPr>
              <a:xfrm>
                <a:off x="318600" y="310320"/>
                <a:ext cx="698400" cy="270360"/>
                <a:chOff x="318600" y="310320"/>
                <a:chExt cx="698400" cy="270360"/>
              </a:xfrm>
            </p:grpSpPr>
            <p:sp>
              <p:nvSpPr>
                <p:cNvPr id="135"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6"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7"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8"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FFFFFF"/>
                    </a:solidFill>
                    <a:effectLst/>
                    <a:uFillTx/>
                    <a:latin typeface="Kodchasan SemiBold"/>
                  </a:endParaRPr>
                </a:p>
              </p:txBody>
            </p:sp>
          </p:grpSp>
          <p:sp>
            <p:nvSpPr>
              <p:cNvPr id="139"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grpSp>
      </p:grpSp>
      <p:sp>
        <p:nvSpPr>
          <p:cNvPr id="140"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Autofit/>
          </a:bodyPr>
          <a:lstStyle/>
          <a:p>
            <a:pPr indent="0" algn="r">
              <a:lnSpc>
                <a:spcPct val="100000"/>
              </a:lnSpc>
              <a:buNone/>
              <a:tabLst>
                <a:tab pos="0" algn="l"/>
              </a:tabLst>
            </a:pPr>
            <a:r>
              <a:rPr lang="en-US" sz="2900" dirty="0">
                <a:latin typeface="Kodchasan SemiBold"/>
              </a:rPr>
              <a:t>Wafer Slicing</a:t>
            </a:r>
            <a:br>
              <a:rPr lang="en-US" sz="2900" dirty="0">
                <a:latin typeface="Kodchasan SemiBold"/>
              </a:rPr>
            </a:br>
            <a:r>
              <a:rPr lang="en-US" sz="2900" dirty="0">
                <a:latin typeface="Kodchasan SemiBold"/>
              </a:rPr>
              <a:t> </a:t>
            </a:r>
            <a:br>
              <a:rPr lang="en-US" sz="2900" dirty="0">
                <a:latin typeface="Kodchasan SemiBold"/>
              </a:rPr>
            </a:br>
            <a:br>
              <a:rPr lang="en-US" sz="2900" dirty="0">
                <a:latin typeface="Kodchasan SemiBold"/>
              </a:rPr>
            </a:br>
            <a:endParaRPr lang="fr-FR" sz="2900" b="0" u="none" strike="noStrike" dirty="0">
              <a:solidFill>
                <a:schemeClr val="dk1"/>
              </a:solidFill>
              <a:effectLst/>
              <a:uFillTx/>
              <a:latin typeface="Kodchasan SemiBold"/>
            </a:endParaRPr>
          </a:p>
        </p:txBody>
      </p:sp>
      <p:sp>
        <p:nvSpPr>
          <p:cNvPr id="4" name="Rectangle 3">
            <a:extLst>
              <a:ext uri="{FF2B5EF4-FFF2-40B4-BE49-F238E27FC236}">
                <a16:creationId xmlns:a16="http://schemas.microsoft.com/office/drawing/2014/main" id="{EA6D3549-236A-465A-8B4D-6B663964A1E8}"/>
              </a:ext>
            </a:extLst>
          </p:cNvPr>
          <p:cNvSpPr>
            <a:spLocks noChangeArrowheads="1"/>
          </p:cNvSpPr>
          <p:nvPr/>
        </p:nvSpPr>
        <p:spPr bwMode="auto">
          <a:xfrm>
            <a:off x="5050898" y="1709388"/>
            <a:ext cx="4555800"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dirty="0">
                <a:latin typeface="Amiko"/>
              </a:rPr>
              <a:t> </a:t>
            </a:r>
            <a:r>
              <a:rPr lang="en-US" dirty="0">
                <a:latin typeface="Amiko"/>
              </a:rPr>
              <a:t>Slice ingot into thin wafers using diamond wire saws</a:t>
            </a:r>
          </a:p>
          <a:p>
            <a:r>
              <a:rPr lang="en-US" dirty="0">
                <a:latin typeface="Amiko"/>
              </a:rPr>
              <a:t>Polish wafers to remove surface defects</a:t>
            </a:r>
          </a:p>
          <a:p>
            <a:r>
              <a:rPr lang="en-US" dirty="0">
                <a:latin typeface="Amiko"/>
              </a:rPr>
              <a:t>Prepare wafers for cell fabrication</a:t>
            </a:r>
          </a:p>
          <a:p>
            <a:endParaRPr kumimoji="0" lang="en-US" altLang="en-US" sz="1400" b="0" i="0" u="none" strike="noStrike" cap="none" normalizeH="0" baseline="0" dirty="0">
              <a:ln>
                <a:noFill/>
              </a:ln>
              <a:solidFill>
                <a:schemeClr val="tx1"/>
              </a:solidFill>
              <a:effectLst/>
              <a:latin typeface="Amiko"/>
            </a:endParaRPr>
          </a:p>
        </p:txBody>
      </p:sp>
      <p:pic>
        <p:nvPicPr>
          <p:cNvPr id="5122" name="Picture 2" descr="CETC Solar Energy - SOLAR PV PRODUCTION EQUIPMENTS">
            <a:extLst>
              <a:ext uri="{FF2B5EF4-FFF2-40B4-BE49-F238E27FC236}">
                <a16:creationId xmlns:a16="http://schemas.microsoft.com/office/drawing/2014/main" id="{CAE03518-E300-46A0-B2D5-E8804B49F7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9" y="996120"/>
            <a:ext cx="4732599" cy="3785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42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Google Shape;236;p30"/>
          <p:cNvGrpSpPr/>
          <p:nvPr/>
        </p:nvGrpSpPr>
        <p:grpSpPr>
          <a:xfrm>
            <a:off x="-192554" y="-65288"/>
            <a:ext cx="9143640" cy="5145480"/>
            <a:chOff x="0" y="0"/>
            <a:chExt cx="9143640" cy="5145480"/>
          </a:xfrm>
        </p:grpSpPr>
        <p:sp>
          <p:nvSpPr>
            <p:cNvPr id="132"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marL="457200" indent="-457200" defTabSz="914400">
                <a:lnSpc>
                  <a:spcPct val="100000"/>
                </a:lnSpc>
                <a:buFont typeface="Arial" panose="020B0604020202020204" pitchFamily="34" charset="0"/>
                <a:buChar char="•"/>
                <a:tabLst>
                  <a:tab pos="0" algn="l"/>
                </a:tabLst>
              </a:pPr>
              <a:endParaRPr lang="en-US" sz="2600" b="0" u="none" strike="noStrike" dirty="0">
                <a:solidFill>
                  <a:srgbClr val="000000"/>
                </a:solidFill>
                <a:effectLst/>
                <a:uFillTx/>
                <a:latin typeface="Kodchasan SemiBold"/>
              </a:endParaRPr>
            </a:p>
          </p:txBody>
        </p:sp>
        <p:grpSp>
          <p:nvGrpSpPr>
            <p:cNvPr id="133" name="Google Shape;238;p30"/>
            <p:cNvGrpSpPr/>
            <p:nvPr/>
          </p:nvGrpSpPr>
          <p:grpSpPr>
            <a:xfrm>
              <a:off x="318600" y="310320"/>
              <a:ext cx="8506440" cy="451080"/>
              <a:chOff x="318600" y="310320"/>
              <a:chExt cx="8506440" cy="451080"/>
            </a:xfrm>
          </p:grpSpPr>
          <p:grpSp>
            <p:nvGrpSpPr>
              <p:cNvPr id="134" name="Google Shape;239;p30"/>
              <p:cNvGrpSpPr/>
              <p:nvPr/>
            </p:nvGrpSpPr>
            <p:grpSpPr>
              <a:xfrm>
                <a:off x="318600" y="310320"/>
                <a:ext cx="698400" cy="270360"/>
                <a:chOff x="318600" y="310320"/>
                <a:chExt cx="698400" cy="270360"/>
              </a:xfrm>
            </p:grpSpPr>
            <p:sp>
              <p:nvSpPr>
                <p:cNvPr id="135"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6"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7"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8"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FFFFFF"/>
                    </a:solidFill>
                    <a:effectLst/>
                    <a:uFillTx/>
                    <a:latin typeface="Kodchasan SemiBold"/>
                  </a:endParaRPr>
                </a:p>
              </p:txBody>
            </p:sp>
          </p:grpSp>
          <p:sp>
            <p:nvSpPr>
              <p:cNvPr id="139"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grpSp>
      </p:grpSp>
      <p:sp>
        <p:nvSpPr>
          <p:cNvPr id="140"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Autofit/>
          </a:bodyPr>
          <a:lstStyle/>
          <a:p>
            <a:pPr indent="0" algn="r">
              <a:lnSpc>
                <a:spcPct val="100000"/>
              </a:lnSpc>
              <a:buNone/>
              <a:tabLst>
                <a:tab pos="0" algn="l"/>
              </a:tabLst>
            </a:pPr>
            <a:r>
              <a:rPr lang="en-US" sz="2900" dirty="0">
                <a:latin typeface="Kodchasan SemiBold"/>
              </a:rPr>
              <a:t>Wafer Treatment</a:t>
            </a:r>
            <a:br>
              <a:rPr lang="en-US" sz="2900" dirty="0">
                <a:latin typeface="Kodchasan SemiBold"/>
              </a:rPr>
            </a:br>
            <a:br>
              <a:rPr lang="en-US" sz="2900" dirty="0">
                <a:latin typeface="Kodchasan SemiBold"/>
              </a:rPr>
            </a:br>
            <a:r>
              <a:rPr lang="en-US" sz="2900" dirty="0">
                <a:latin typeface="Kodchasan SemiBold"/>
              </a:rPr>
              <a:t> </a:t>
            </a:r>
            <a:br>
              <a:rPr lang="en-US" sz="2900" dirty="0">
                <a:latin typeface="Kodchasan SemiBold"/>
              </a:rPr>
            </a:br>
            <a:br>
              <a:rPr lang="en-US" sz="2900" dirty="0">
                <a:latin typeface="Kodchasan SemiBold"/>
              </a:rPr>
            </a:br>
            <a:endParaRPr lang="fr-FR" sz="2900" b="0" u="none" strike="noStrike" dirty="0">
              <a:solidFill>
                <a:schemeClr val="dk1"/>
              </a:solidFill>
              <a:effectLst/>
              <a:uFillTx/>
              <a:latin typeface="Kodchasan SemiBold"/>
            </a:endParaRPr>
          </a:p>
        </p:txBody>
      </p:sp>
      <p:sp>
        <p:nvSpPr>
          <p:cNvPr id="4" name="Rectangle 3">
            <a:extLst>
              <a:ext uri="{FF2B5EF4-FFF2-40B4-BE49-F238E27FC236}">
                <a16:creationId xmlns:a16="http://schemas.microsoft.com/office/drawing/2014/main" id="{EA6D3549-236A-465A-8B4D-6B663964A1E8}"/>
              </a:ext>
            </a:extLst>
          </p:cNvPr>
          <p:cNvSpPr>
            <a:spLocks noChangeArrowheads="1"/>
          </p:cNvSpPr>
          <p:nvPr/>
        </p:nvSpPr>
        <p:spPr bwMode="auto">
          <a:xfrm>
            <a:off x="4676760" y="1822605"/>
            <a:ext cx="455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US" altLang="en-US" sz="1400" b="0" i="0" u="none" strike="noStrike" cap="none" normalizeH="0" baseline="0" dirty="0">
                <a:ln>
                  <a:noFill/>
                </a:ln>
                <a:solidFill>
                  <a:schemeClr val="tx1"/>
                </a:solidFill>
                <a:effectLst/>
                <a:latin typeface="Amiko"/>
              </a:rPr>
              <a:t>          </a:t>
            </a:r>
            <a:endParaRPr lang="en-US" dirty="0"/>
          </a:p>
          <a:p>
            <a:endParaRPr kumimoji="0" lang="en-US" altLang="en-US" sz="1400" b="0" i="0" u="none" strike="noStrike" cap="none" normalizeH="0" baseline="0" dirty="0">
              <a:ln>
                <a:noFill/>
              </a:ln>
              <a:solidFill>
                <a:schemeClr val="tx1"/>
              </a:solidFill>
              <a:effectLst/>
              <a:latin typeface="Amiko"/>
            </a:endParaRPr>
          </a:p>
        </p:txBody>
      </p:sp>
      <p:sp>
        <p:nvSpPr>
          <p:cNvPr id="2" name="Rectangle 1">
            <a:extLst>
              <a:ext uri="{FF2B5EF4-FFF2-40B4-BE49-F238E27FC236}">
                <a16:creationId xmlns:a16="http://schemas.microsoft.com/office/drawing/2014/main" id="{DDD23DC6-DAD9-4926-AE02-E25605E453D2}"/>
              </a:ext>
            </a:extLst>
          </p:cNvPr>
          <p:cNvSpPr/>
          <p:nvPr/>
        </p:nvSpPr>
        <p:spPr>
          <a:xfrm>
            <a:off x="5062230" y="1643926"/>
            <a:ext cx="3785040" cy="1169551"/>
          </a:xfrm>
          <a:prstGeom prst="rect">
            <a:avLst/>
          </a:prstGeom>
        </p:spPr>
        <p:txBody>
          <a:bodyPr wrap="square">
            <a:spAutoFit/>
          </a:bodyPr>
          <a:lstStyle/>
          <a:p>
            <a:pPr>
              <a:buFont typeface="Arial" panose="020B0604020202020204" pitchFamily="34" charset="0"/>
              <a:buChar char="•"/>
            </a:pPr>
            <a:r>
              <a:rPr lang="en-US" sz="1400" dirty="0">
                <a:latin typeface="Amiko"/>
              </a:rPr>
              <a:t>Texture wafers chemically to reduce reflection(</a:t>
            </a:r>
            <a:r>
              <a:rPr lang="en-US" sz="1400" dirty="0" err="1">
                <a:latin typeface="Amiko"/>
              </a:rPr>
              <a:t>KOH&amp;NaOH</a:t>
            </a:r>
            <a:r>
              <a:rPr lang="en-US" sz="1400" dirty="0">
                <a:latin typeface="Amiko"/>
              </a:rPr>
              <a:t>)</a:t>
            </a:r>
          </a:p>
          <a:p>
            <a:pPr>
              <a:buFont typeface="Arial" panose="020B0604020202020204" pitchFamily="34" charset="0"/>
              <a:buChar char="•"/>
            </a:pPr>
            <a:r>
              <a:rPr lang="en-US" sz="1400" dirty="0">
                <a:latin typeface="Amiko"/>
              </a:rPr>
              <a:t>Dope wafers with phosphorus/boron to create p-n junction</a:t>
            </a:r>
          </a:p>
          <a:p>
            <a:pPr>
              <a:buFont typeface="Arial" panose="020B0604020202020204" pitchFamily="34" charset="0"/>
              <a:buChar char="•"/>
            </a:pPr>
            <a:r>
              <a:rPr lang="en-US" sz="1400" dirty="0">
                <a:latin typeface="Amiko"/>
              </a:rPr>
              <a:t>Essential for converting sunlight to electricity</a:t>
            </a:r>
            <a:endParaRPr lang="en-US" sz="1400" b="0" i="0" dirty="0">
              <a:effectLst/>
              <a:latin typeface="Amiko"/>
            </a:endParaRPr>
          </a:p>
        </p:txBody>
      </p:sp>
      <p:pic>
        <p:nvPicPr>
          <p:cNvPr id="15" name="Picture 2" descr="assembly and production of solar panels ...">
            <a:extLst>
              <a:ext uri="{FF2B5EF4-FFF2-40B4-BE49-F238E27FC236}">
                <a16:creationId xmlns:a16="http://schemas.microsoft.com/office/drawing/2014/main" id="{93517874-7ABA-467D-B39E-DC5626A15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782" y="1142640"/>
            <a:ext cx="3672990" cy="3464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4361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2900" b="0" u="none" strike="noStrike">
                <a:solidFill>
                  <a:schemeClr val="dk1"/>
                </a:solidFill>
                <a:effectLst/>
                <a:uFillTx/>
                <a:latin typeface="Kodchasan SemiBold"/>
                <a:ea typeface="Kodchasan SemiBold"/>
              </a:rPr>
              <a:t>Doping – P-N Junction Formation</a:t>
            </a:r>
            <a:endParaRPr lang="fr-FR" sz="2900" b="0" u="none" strike="noStrike">
              <a:solidFill>
                <a:schemeClr val="dk1"/>
              </a:solidFill>
              <a:effectLst/>
              <a:uFillTx/>
              <a:latin typeface="Arial"/>
            </a:endParaRPr>
          </a:p>
        </p:txBody>
      </p:sp>
      <p:sp>
        <p:nvSpPr>
          <p:cNvPr id="87" name="PlaceHolder 2"/>
          <p:cNvSpPr>
            <a:spLocks noGrp="1"/>
          </p:cNvSpPr>
          <p:nvPr>
            <p:ph type="subTitle"/>
          </p:nvPr>
        </p:nvSpPr>
        <p:spPr>
          <a:xfrm>
            <a:off x="243068" y="1618783"/>
            <a:ext cx="3618638" cy="1661652"/>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u="none" strike="noStrike" dirty="0">
                <a:solidFill>
                  <a:schemeClr val="dk1"/>
                </a:solidFill>
                <a:effectLst/>
                <a:uFillTx/>
                <a:latin typeface="Amiko"/>
                <a:ea typeface="Amiko"/>
              </a:rPr>
              <a:t>The doping process is essential for creating the P-N junction, which forms the electric field necessary for photovoltaic action. This process establishes the foundation for converting sunlight into electricity effectively.</a:t>
            </a:r>
            <a:endParaRPr lang="en-US" sz="1400" b="0" u="none" strike="noStrike" dirty="0">
              <a:solidFill>
                <a:srgbClr val="000000"/>
              </a:solidFill>
              <a:effectLst/>
              <a:uFillTx/>
              <a:latin typeface="OpenSymbol"/>
            </a:endParaRPr>
          </a:p>
        </p:txBody>
      </p:sp>
      <p:pic>
        <p:nvPicPr>
          <p:cNvPr id="18434" name="Picture 2" descr="Photovoltaic Cell - GeeksforGeeks">
            <a:extLst>
              <a:ext uri="{FF2B5EF4-FFF2-40B4-BE49-F238E27FC236}">
                <a16:creationId xmlns:a16="http://schemas.microsoft.com/office/drawing/2014/main" id="{F3FC8740-DAFA-42CD-A865-2BEB67297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7482" y="1458411"/>
            <a:ext cx="4783450" cy="32167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584138" y="152400"/>
            <a:ext cx="7236398" cy="708660"/>
          </a:xfrm>
          <a:prstGeom prst="rect">
            <a:avLst/>
          </a:prstGeom>
          <a:noFill/>
          <a:ln w="0">
            <a:noFill/>
          </a:ln>
        </p:spPr>
        <p:txBody>
          <a:bodyPr lIns="91440" tIns="91440" rIns="91440" bIns="91440" anchor="t">
            <a:noAutofit/>
          </a:bodyPr>
          <a:lstStyle/>
          <a:p>
            <a:pPr algn="r">
              <a:lnSpc>
                <a:spcPct val="100000"/>
              </a:lnSpc>
              <a:tabLst>
                <a:tab pos="0" algn="l"/>
              </a:tabLst>
            </a:pPr>
            <a:r>
              <a:rPr lang="en-US" sz="2900" dirty="0">
                <a:latin typeface="Kodchasan SemiBold"/>
              </a:rPr>
              <a:t>Solar Cell Fabrication</a:t>
            </a:r>
            <a:br>
              <a:rPr lang="en-US" sz="2900" dirty="0">
                <a:latin typeface="Kodchasan SemiBold"/>
              </a:rPr>
            </a:br>
            <a:endParaRPr lang="fr-FR" sz="2900" b="0" u="none" strike="noStrike" dirty="0">
              <a:solidFill>
                <a:schemeClr val="dk1"/>
              </a:solidFill>
              <a:effectLst/>
              <a:uFillTx/>
              <a:latin typeface="Kodchasan SemiBold"/>
            </a:endParaRPr>
          </a:p>
        </p:txBody>
      </p:sp>
      <p:sp>
        <p:nvSpPr>
          <p:cNvPr id="101" name="PlaceHolder 2"/>
          <p:cNvSpPr>
            <a:spLocks noGrp="1"/>
          </p:cNvSpPr>
          <p:nvPr>
            <p:ph type="subTitle"/>
          </p:nvPr>
        </p:nvSpPr>
        <p:spPr>
          <a:xfrm>
            <a:off x="455460" y="1613985"/>
            <a:ext cx="3213715" cy="2599200"/>
          </a:xfrm>
          <a:prstGeom prst="rect">
            <a:avLst/>
          </a:prstGeom>
          <a:noFill/>
          <a:ln w="0">
            <a:noFill/>
          </a:ln>
        </p:spPr>
        <p:txBody>
          <a:bodyPr lIns="91440" tIns="91440" rIns="91440" bIns="91440" anchor="t">
            <a:normAutofit/>
          </a:bodyPr>
          <a:lstStyle/>
          <a:p>
            <a:r>
              <a:rPr lang="en-US" sz="1400" dirty="0">
                <a:latin typeface="Amiko"/>
              </a:rPr>
              <a:t>Apply anti-reflective coating (e.g., silicon nitride)</a:t>
            </a:r>
          </a:p>
          <a:p>
            <a:r>
              <a:rPr lang="en-US" sz="1400" dirty="0">
                <a:latin typeface="Amiko"/>
              </a:rPr>
              <a:t>Screen-print silver contacts for current collection</a:t>
            </a:r>
          </a:p>
          <a:p>
            <a:r>
              <a:rPr lang="en-US" sz="1400" dirty="0">
                <a:latin typeface="Amiko"/>
              </a:rPr>
              <a:t>Test each cell for efficiency and quality</a:t>
            </a:r>
          </a:p>
          <a:p>
            <a:pPr indent="0">
              <a:lnSpc>
                <a:spcPct val="100000"/>
              </a:lnSpc>
              <a:buNone/>
              <a:tabLst>
                <a:tab pos="0" algn="l"/>
              </a:tabLst>
            </a:pPr>
            <a:r>
              <a:rPr lang="en" sz="1400" b="0" u="none" strike="noStrike" dirty="0">
                <a:solidFill>
                  <a:schemeClr val="dk1"/>
                </a:solidFill>
                <a:effectLst/>
                <a:uFillTx/>
                <a:latin typeface="Amiko"/>
                <a:ea typeface="Amiko"/>
              </a:rPr>
              <a:t>.</a:t>
            </a:r>
            <a:endParaRPr lang="en-US" sz="1400" b="0" u="none" strike="noStrike" dirty="0">
              <a:solidFill>
                <a:srgbClr val="000000"/>
              </a:solidFill>
              <a:effectLst/>
              <a:uFillTx/>
              <a:latin typeface="Amiko"/>
            </a:endParaRPr>
          </a:p>
        </p:txBody>
      </p:sp>
      <p:pic>
        <p:nvPicPr>
          <p:cNvPr id="9218" name="Picture 2" descr="How Solar Panels Are Made In Factory">
            <a:extLst>
              <a:ext uri="{FF2B5EF4-FFF2-40B4-BE49-F238E27FC236}">
                <a16:creationId xmlns:a16="http://schemas.microsoft.com/office/drawing/2014/main" id="{C5500670-3AD7-400B-91A0-655C41726D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326" y="1526348"/>
            <a:ext cx="4459214" cy="3253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413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3997898" y="267300"/>
            <a:ext cx="7324200" cy="7236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2900" b="0" u="none" strike="noStrike" dirty="0">
                <a:solidFill>
                  <a:schemeClr val="dk1"/>
                </a:solidFill>
                <a:effectLst/>
                <a:uFillTx/>
                <a:latin typeface="Kodchasan SemiBold"/>
                <a:ea typeface="Kodchasan SemiBold"/>
              </a:rPr>
              <a:t>Metallization</a:t>
            </a:r>
            <a:endParaRPr lang="fr-FR" sz="2900" b="0" u="none" strike="noStrike" dirty="0">
              <a:solidFill>
                <a:schemeClr val="dk1"/>
              </a:solidFill>
              <a:effectLst/>
              <a:uFillTx/>
              <a:latin typeface="Arial"/>
            </a:endParaRPr>
          </a:p>
        </p:txBody>
      </p:sp>
      <p:sp>
        <p:nvSpPr>
          <p:cNvPr id="101" name="PlaceHolder 2"/>
          <p:cNvSpPr>
            <a:spLocks noGrp="1"/>
          </p:cNvSpPr>
          <p:nvPr>
            <p:ph type="subTitle"/>
          </p:nvPr>
        </p:nvSpPr>
        <p:spPr>
          <a:xfrm>
            <a:off x="108220" y="1588312"/>
            <a:ext cx="3636480" cy="1539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u="none" strike="noStrike" dirty="0">
                <a:solidFill>
                  <a:schemeClr val="dk1"/>
                </a:solidFill>
                <a:effectLst/>
                <a:uFillTx/>
                <a:latin typeface="Amiko"/>
                <a:ea typeface="Amiko"/>
              </a:rPr>
              <a:t>Metallization involves applying the necessary front and rear metal contacts, typically silver and aluminum. These contacts are crucial for allowing current collection and are vital for forming electrical circuits within the solar module, ensuring effective energy transfer.</a:t>
            </a:r>
            <a:endParaRPr lang="en-US" sz="1400" b="0" u="none" strike="noStrike" dirty="0">
              <a:solidFill>
                <a:srgbClr val="000000"/>
              </a:solidFill>
              <a:effectLst/>
              <a:uFillTx/>
              <a:latin typeface="OpenSymbol"/>
            </a:endParaRPr>
          </a:p>
        </p:txBody>
      </p:sp>
      <p:pic>
        <p:nvPicPr>
          <p:cNvPr id="7172" name="Picture 4" descr="Solar Manufacturing Cost Analysis | Solar Market Research ...">
            <a:extLst>
              <a:ext uri="{FF2B5EF4-FFF2-40B4-BE49-F238E27FC236}">
                <a16:creationId xmlns:a16="http://schemas.microsoft.com/office/drawing/2014/main" id="{A7D9D303-D59E-4C14-8DF6-526657AAD9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1" y="1127760"/>
            <a:ext cx="4983480" cy="3474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8838" y="129540"/>
            <a:ext cx="7236398" cy="708660"/>
          </a:xfrm>
          <a:prstGeom prst="rect">
            <a:avLst/>
          </a:prstGeom>
          <a:noFill/>
          <a:ln w="0">
            <a:noFill/>
          </a:ln>
        </p:spPr>
        <p:txBody>
          <a:bodyPr lIns="91440" tIns="91440" rIns="91440" bIns="91440" anchor="t">
            <a:noAutofit/>
          </a:bodyPr>
          <a:lstStyle/>
          <a:p>
            <a:pPr algn="r">
              <a:lnSpc>
                <a:spcPct val="100000"/>
              </a:lnSpc>
              <a:tabLst>
                <a:tab pos="0" algn="l"/>
              </a:tabLst>
            </a:pPr>
            <a:r>
              <a:rPr lang="en-US" sz="2900" dirty="0">
                <a:latin typeface="Kodchasan SemiBold"/>
              </a:rPr>
              <a:t>Module (Panel) Assembly</a:t>
            </a:r>
            <a:br>
              <a:rPr lang="en-US" sz="2900" dirty="0">
                <a:latin typeface="Kodchasan SemiBold"/>
              </a:rPr>
            </a:br>
            <a:br>
              <a:rPr lang="en-US" sz="2900" dirty="0">
                <a:latin typeface="Kodchasan SemiBold"/>
              </a:rPr>
            </a:br>
            <a:endParaRPr lang="fr-FR" sz="2900" b="0" u="none" strike="noStrike" dirty="0">
              <a:solidFill>
                <a:schemeClr val="dk1"/>
              </a:solidFill>
              <a:effectLst/>
              <a:uFillTx/>
              <a:latin typeface="Kodchasan SemiBold"/>
            </a:endParaRPr>
          </a:p>
        </p:txBody>
      </p:sp>
      <p:sp>
        <p:nvSpPr>
          <p:cNvPr id="101" name="PlaceHolder 2"/>
          <p:cNvSpPr>
            <a:spLocks noGrp="1"/>
          </p:cNvSpPr>
          <p:nvPr>
            <p:ph type="subTitle"/>
          </p:nvPr>
        </p:nvSpPr>
        <p:spPr>
          <a:xfrm>
            <a:off x="455460" y="2224920"/>
            <a:ext cx="3636480" cy="1539360"/>
          </a:xfrm>
          <a:prstGeom prst="rect">
            <a:avLst/>
          </a:prstGeom>
          <a:noFill/>
          <a:ln w="0">
            <a:noFill/>
          </a:ln>
        </p:spPr>
        <p:txBody>
          <a:bodyPr lIns="91440" tIns="91440" rIns="91440" bIns="91440" anchor="t">
            <a:noAutofit/>
          </a:bodyPr>
          <a:lstStyle/>
          <a:p>
            <a:r>
              <a:rPr lang="en-US" sz="1400" dirty="0">
                <a:latin typeface="Amiko"/>
              </a:rPr>
              <a:t>Connect cells in series/parallel (stringing)</a:t>
            </a:r>
          </a:p>
          <a:p>
            <a:r>
              <a:rPr lang="en-US" sz="1400" dirty="0">
                <a:latin typeface="Amiko"/>
              </a:rPr>
              <a:t>Sandwich cells between glass and polymer layers with encapsulant</a:t>
            </a:r>
          </a:p>
          <a:p>
            <a:r>
              <a:rPr lang="en-US" sz="1400" dirty="0">
                <a:latin typeface="Amiko"/>
              </a:rPr>
              <a:t>Laminate and seal module</a:t>
            </a:r>
          </a:p>
          <a:p>
            <a:r>
              <a:rPr lang="en-US" sz="1400" dirty="0">
                <a:latin typeface="Amiko"/>
              </a:rPr>
              <a:t>Add aluminum frame and junction box</a:t>
            </a:r>
          </a:p>
          <a:p>
            <a:endParaRPr lang="en-US" sz="1400" dirty="0">
              <a:latin typeface="Amiko"/>
            </a:endParaRPr>
          </a:p>
          <a:p>
            <a:pPr indent="0">
              <a:lnSpc>
                <a:spcPct val="100000"/>
              </a:lnSpc>
              <a:buNone/>
              <a:tabLst>
                <a:tab pos="0" algn="l"/>
              </a:tabLst>
            </a:pPr>
            <a:r>
              <a:rPr lang="en" sz="1400" b="0" u="none" strike="noStrike" dirty="0">
                <a:solidFill>
                  <a:schemeClr val="dk1"/>
                </a:solidFill>
                <a:effectLst/>
                <a:uFillTx/>
                <a:latin typeface="Amiko"/>
                <a:ea typeface="Amiko"/>
              </a:rPr>
              <a:t>.</a:t>
            </a:r>
            <a:endParaRPr lang="en-US" sz="1400" b="0" u="none" strike="noStrike" dirty="0">
              <a:solidFill>
                <a:srgbClr val="000000"/>
              </a:solidFill>
              <a:effectLst/>
              <a:uFillTx/>
              <a:latin typeface="Amiko"/>
            </a:endParaRPr>
          </a:p>
        </p:txBody>
      </p:sp>
      <p:pic>
        <p:nvPicPr>
          <p:cNvPr id="10242" name="Picture 2" descr="Solar Panel Supply Chain with ...">
            <a:extLst>
              <a:ext uri="{FF2B5EF4-FFF2-40B4-BE49-F238E27FC236}">
                <a16:creationId xmlns:a16="http://schemas.microsoft.com/office/drawing/2014/main" id="{2B8A123B-D25B-4314-BD1C-DAE197FB7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4208" y="1331089"/>
            <a:ext cx="4394333" cy="3159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434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Google Shape;213;p28"/>
          <p:cNvPicPr/>
          <p:nvPr/>
        </p:nvPicPr>
        <p:blipFill>
          <a:blip r:embed="rId2"/>
          <a:srcRect t="19614" b="19614"/>
          <a:stretch/>
        </p:blipFill>
        <p:spPr>
          <a:xfrm flipH="1">
            <a:off x="78120" y="1459440"/>
            <a:ext cx="8991000" cy="3605040"/>
          </a:xfrm>
          <a:prstGeom prst="rect">
            <a:avLst/>
          </a:prstGeom>
          <a:noFill/>
          <a:ln w="0">
            <a:noFill/>
          </a:ln>
        </p:spPr>
      </p:pic>
      <p:grpSp>
        <p:nvGrpSpPr>
          <p:cNvPr id="103" name="Google Shape;214;p28"/>
          <p:cNvGrpSpPr/>
          <p:nvPr/>
        </p:nvGrpSpPr>
        <p:grpSpPr>
          <a:xfrm>
            <a:off x="0" y="0"/>
            <a:ext cx="9148680" cy="5220720"/>
            <a:chOff x="0" y="0"/>
            <a:chExt cx="9148680" cy="5220720"/>
          </a:xfrm>
        </p:grpSpPr>
        <p:sp>
          <p:nvSpPr>
            <p:cNvPr id="104" name="Google Shape;215;p28"/>
            <p:cNvSpPr/>
            <p:nvPr/>
          </p:nvSpPr>
          <p:spPr>
            <a:xfrm>
              <a:off x="0" y="0"/>
              <a:ext cx="9148680" cy="5220720"/>
            </a:xfrm>
            <a:custGeom>
              <a:avLst/>
              <a:gdLst>
                <a:gd name="textAreaLeft" fmla="*/ 0 w 9148680"/>
                <a:gd name="textAreaRight" fmla="*/ 9149040 w 9148680"/>
                <a:gd name="textAreaTop" fmla="*/ 0 h 5220720"/>
                <a:gd name="textAreaBottom" fmla="*/ 5221080 h 5220720"/>
              </a:gdLst>
              <a:ahLst/>
              <a:cxnLst/>
              <a:rect l="textAreaLeft" t="textAreaTop" r="textAreaRight" b="textAreaBottom"/>
              <a:pathLst>
                <a:path w="4430471" h="2492139">
                  <a:moveTo>
                    <a:pt x="4430471" y="0"/>
                  </a:moveTo>
                  <a:lnTo>
                    <a:pt x="4430471" y="2492140"/>
                  </a:lnTo>
                  <a:lnTo>
                    <a:pt x="0" y="2492140"/>
                  </a:lnTo>
                  <a:lnTo>
                    <a:pt x="0" y="0"/>
                  </a:lnTo>
                  <a:lnTo>
                    <a:pt x="4430471" y="0"/>
                  </a:lnTo>
                  <a:close/>
                  <a:moveTo>
                    <a:pt x="266290" y="876449"/>
                  </a:moveTo>
                  <a:cubicBezTo>
                    <a:pt x="214093" y="885863"/>
                    <a:pt x="171635" y="930814"/>
                    <a:pt x="166004" y="983565"/>
                  </a:cubicBezTo>
                  <a:lnTo>
                    <a:pt x="165774" y="1720730"/>
                  </a:lnTo>
                  <a:cubicBezTo>
                    <a:pt x="169373" y="1776942"/>
                    <a:pt x="214462" y="1823923"/>
                    <a:pt x="269659" y="1833430"/>
                  </a:cubicBezTo>
                  <a:lnTo>
                    <a:pt x="1030546" y="1833200"/>
                  </a:lnTo>
                  <a:cubicBezTo>
                    <a:pt x="1261715" y="1864536"/>
                    <a:pt x="1033546" y="2246249"/>
                    <a:pt x="1231763" y="2295492"/>
                  </a:cubicBezTo>
                  <a:lnTo>
                    <a:pt x="4156290" y="2298815"/>
                  </a:lnTo>
                  <a:cubicBezTo>
                    <a:pt x="4211024" y="2295076"/>
                    <a:pt x="4254545" y="2254648"/>
                    <a:pt x="4267006" y="2202129"/>
                  </a:cubicBezTo>
                  <a:lnTo>
                    <a:pt x="4269036" y="988134"/>
                  </a:lnTo>
                  <a:cubicBezTo>
                    <a:pt x="4262067" y="926476"/>
                    <a:pt x="4215408" y="876633"/>
                    <a:pt x="4151721" y="875018"/>
                  </a:cubicBezTo>
                  <a:lnTo>
                    <a:pt x="266244" y="876403"/>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5" name="Google Shape;216;p28"/>
            <p:cNvGrpSpPr/>
            <p:nvPr/>
          </p:nvGrpSpPr>
          <p:grpSpPr>
            <a:xfrm>
              <a:off x="318600" y="310320"/>
              <a:ext cx="8506800" cy="945360"/>
              <a:chOff x="318600" y="310320"/>
              <a:chExt cx="8506800" cy="945360"/>
            </a:xfrm>
          </p:grpSpPr>
          <p:sp>
            <p:nvSpPr>
              <p:cNvPr id="106" name="Google Shape;217;p28"/>
              <p:cNvSpPr/>
              <p:nvPr/>
            </p:nvSpPr>
            <p:spPr>
              <a:xfrm>
                <a:off x="1146240" y="313560"/>
                <a:ext cx="7679160" cy="94212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218;p28"/>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219;p28"/>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220;p28"/>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221;p28"/>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11" name="PlaceHolder 1"/>
          <p:cNvSpPr>
            <a:spLocks noGrp="1"/>
          </p:cNvSpPr>
          <p:nvPr>
            <p:ph type="title"/>
          </p:nvPr>
        </p:nvSpPr>
        <p:spPr>
          <a:xfrm>
            <a:off x="1285920" y="476280"/>
            <a:ext cx="7543440" cy="704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300" b="0" u="none" strike="noStrike">
                <a:solidFill>
                  <a:schemeClr val="dk1"/>
                </a:solidFill>
                <a:effectLst/>
                <a:uFillTx/>
                <a:latin typeface="Kodchasan SemiBold"/>
                <a:ea typeface="Kodchasan SemiBold"/>
              </a:rPr>
              <a:t>Final Testing and Integration</a:t>
            </a:r>
            <a:endParaRPr lang="fr-FR" sz="3300" b="0" u="none" strike="noStrike">
              <a:solidFill>
                <a:schemeClr val="dk1"/>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Google Shape;235;p30"/>
          <p:cNvPicPr/>
          <p:nvPr/>
        </p:nvPicPr>
        <p:blipFill>
          <a:blip r:embed="rId2"/>
          <a:srcRect l="16759" r="16759"/>
          <a:stretch/>
        </p:blipFill>
        <p:spPr>
          <a:xfrm>
            <a:off x="0" y="1049400"/>
            <a:ext cx="4083480" cy="4093560"/>
          </a:xfrm>
          <a:prstGeom prst="rect">
            <a:avLst/>
          </a:prstGeom>
          <a:noFill/>
          <a:ln w="0">
            <a:noFill/>
          </a:ln>
        </p:spPr>
      </p:pic>
      <p:grpSp>
        <p:nvGrpSpPr>
          <p:cNvPr id="115" name="Google Shape;236;p30"/>
          <p:cNvGrpSpPr/>
          <p:nvPr/>
        </p:nvGrpSpPr>
        <p:grpSpPr>
          <a:xfrm>
            <a:off x="0" y="0"/>
            <a:ext cx="9143640" cy="5145480"/>
            <a:chOff x="0" y="0"/>
            <a:chExt cx="9143640" cy="5145480"/>
          </a:xfrm>
        </p:grpSpPr>
        <p:sp>
          <p:nvSpPr>
            <p:cNvPr id="116"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7" name="Google Shape;238;p30"/>
            <p:cNvGrpSpPr/>
            <p:nvPr/>
          </p:nvGrpSpPr>
          <p:grpSpPr>
            <a:xfrm>
              <a:off x="318600" y="310320"/>
              <a:ext cx="8506440" cy="451080"/>
              <a:chOff x="318600" y="310320"/>
              <a:chExt cx="8506440" cy="451080"/>
            </a:xfrm>
          </p:grpSpPr>
          <p:grpSp>
            <p:nvGrpSpPr>
              <p:cNvPr id="118" name="Google Shape;239;p30"/>
              <p:cNvGrpSpPr/>
              <p:nvPr/>
            </p:nvGrpSpPr>
            <p:grpSpPr>
              <a:xfrm>
                <a:off x="318600" y="310320"/>
                <a:ext cx="698400" cy="270360"/>
                <a:chOff x="318600" y="310320"/>
                <a:chExt cx="698400" cy="270360"/>
              </a:xfrm>
            </p:grpSpPr>
            <p:sp>
              <p:nvSpPr>
                <p:cNvPr id="119"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3"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4"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2900" b="0" u="none" strike="noStrike">
                <a:solidFill>
                  <a:schemeClr val="dk1"/>
                </a:solidFill>
                <a:effectLst/>
                <a:uFillTx/>
                <a:latin typeface="Kodchasan SemiBold"/>
                <a:ea typeface="Kodchasan SemiBold"/>
              </a:rPr>
              <a:t>Testing and Sorting</a:t>
            </a:r>
            <a:endParaRPr lang="fr-FR" sz="2900" b="0" u="none" strike="noStrike">
              <a:solidFill>
                <a:schemeClr val="dk1"/>
              </a:solidFill>
              <a:effectLst/>
              <a:uFillTx/>
              <a:latin typeface="Arial"/>
            </a:endParaRPr>
          </a:p>
        </p:txBody>
      </p:sp>
      <p:sp>
        <p:nvSpPr>
          <p:cNvPr id="125" name="PlaceHolder 2"/>
          <p:cNvSpPr>
            <a:spLocks noGrp="1"/>
          </p:cNvSpPr>
          <p:nvPr>
            <p:ph type="subTitle"/>
          </p:nvPr>
        </p:nvSpPr>
        <p:spPr>
          <a:xfrm>
            <a:off x="4676760" y="1085760"/>
            <a:ext cx="4152600" cy="37144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u="none" strike="noStrike">
                <a:solidFill>
                  <a:schemeClr val="dk1"/>
                </a:solidFill>
                <a:effectLst/>
                <a:uFillTx/>
                <a:latin typeface="Amiko"/>
                <a:ea typeface="Amiko"/>
              </a:rPr>
              <a:t>Cells undergo rigorous testing under simulated sunlight conditions to evaluate their efficiency. Only those that meet performance standards are selected for module assembly, ensuring high-quality output and reliability.</a:t>
            </a:r>
            <a:endParaRPr lang="en-US" sz="1400" b="0" u="none" strike="noStrike">
              <a:solidFill>
                <a:srgbClr val="000000"/>
              </a:solidFill>
              <a:effectLst/>
              <a:uFillTx/>
              <a:latin typeface="OpenSymbo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oogle Shape;236;p30"/>
          <p:cNvGrpSpPr/>
          <p:nvPr/>
        </p:nvGrpSpPr>
        <p:grpSpPr>
          <a:xfrm>
            <a:off x="-314280" y="-1980"/>
            <a:ext cx="9143640" cy="5145480"/>
            <a:chOff x="0" y="0"/>
            <a:chExt cx="9143640" cy="5145480"/>
          </a:xfrm>
        </p:grpSpPr>
        <p:sp>
          <p:nvSpPr>
            <p:cNvPr id="116"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7" name="Google Shape;238;p30"/>
            <p:cNvGrpSpPr/>
            <p:nvPr/>
          </p:nvGrpSpPr>
          <p:grpSpPr>
            <a:xfrm>
              <a:off x="318600" y="310320"/>
              <a:ext cx="8506440" cy="451080"/>
              <a:chOff x="318600" y="310320"/>
              <a:chExt cx="8506440" cy="451080"/>
            </a:xfrm>
          </p:grpSpPr>
          <p:grpSp>
            <p:nvGrpSpPr>
              <p:cNvPr id="118" name="Google Shape;239;p30"/>
              <p:cNvGrpSpPr/>
              <p:nvPr/>
            </p:nvGrpSpPr>
            <p:grpSpPr>
              <a:xfrm>
                <a:off x="318600" y="310320"/>
                <a:ext cx="698400" cy="270360"/>
                <a:chOff x="318600" y="310320"/>
                <a:chExt cx="698400" cy="270360"/>
              </a:xfrm>
            </p:grpSpPr>
            <p:sp>
              <p:nvSpPr>
                <p:cNvPr id="119"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3"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4"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fontScale="90000"/>
          </a:bodyPr>
          <a:lstStyle/>
          <a:p>
            <a:pPr indent="0" algn="r">
              <a:lnSpc>
                <a:spcPct val="100000"/>
              </a:lnSpc>
              <a:buNone/>
              <a:tabLst>
                <a:tab pos="0" algn="l"/>
              </a:tabLst>
            </a:pPr>
            <a:r>
              <a:rPr lang="en-US" dirty="0"/>
              <a:t> </a:t>
            </a:r>
            <a:r>
              <a:rPr lang="en-US" sz="3200" dirty="0">
                <a:latin typeface="Kodchasan SemiBold"/>
              </a:rPr>
              <a:t>Testing and Quality Assurance</a:t>
            </a:r>
            <a:br>
              <a:rPr lang="en-US" sz="3200" dirty="0">
                <a:latin typeface="Kodchasan SemiBold"/>
              </a:rPr>
            </a:br>
            <a:endParaRPr lang="fr-FR" sz="3200" b="0" u="none" strike="noStrike" dirty="0">
              <a:solidFill>
                <a:schemeClr val="dk1"/>
              </a:solidFill>
              <a:effectLst/>
              <a:uFillTx/>
              <a:latin typeface="Kodchasan SemiBold"/>
            </a:endParaRPr>
          </a:p>
        </p:txBody>
      </p:sp>
      <p:sp>
        <p:nvSpPr>
          <p:cNvPr id="125" name="PlaceHolder 2"/>
          <p:cNvSpPr>
            <a:spLocks noGrp="1"/>
          </p:cNvSpPr>
          <p:nvPr>
            <p:ph type="subTitle"/>
          </p:nvPr>
        </p:nvSpPr>
        <p:spPr>
          <a:xfrm>
            <a:off x="4676760" y="1085760"/>
            <a:ext cx="4152600" cy="3714480"/>
          </a:xfrm>
          <a:prstGeom prst="rect">
            <a:avLst/>
          </a:prstGeom>
          <a:noFill/>
          <a:ln w="0">
            <a:noFill/>
          </a:ln>
        </p:spPr>
        <p:txBody>
          <a:bodyPr lIns="91440" tIns="91440" rIns="91440" bIns="91440" anchor="t">
            <a:normAutofit/>
          </a:bodyPr>
          <a:lstStyle/>
          <a:p>
            <a:r>
              <a:rPr lang="en-US" sz="1400" dirty="0">
                <a:latin typeface="Amiko"/>
              </a:rPr>
              <a:t>Electrical performance tests</a:t>
            </a:r>
          </a:p>
          <a:p>
            <a:r>
              <a:rPr lang="en-US" sz="1400" dirty="0">
                <a:latin typeface="Amiko"/>
              </a:rPr>
              <a:t>Mechanical strength and weather resistance checks</a:t>
            </a:r>
          </a:p>
          <a:p>
            <a:r>
              <a:rPr lang="en-US" sz="1400" dirty="0">
                <a:latin typeface="Amiko"/>
              </a:rPr>
              <a:t>Ensure durability and long-term reliability</a:t>
            </a:r>
          </a:p>
          <a:p>
            <a:pPr indent="0">
              <a:lnSpc>
                <a:spcPct val="100000"/>
              </a:lnSpc>
              <a:buNone/>
              <a:tabLst>
                <a:tab pos="0" algn="l"/>
              </a:tabLst>
            </a:pPr>
            <a:r>
              <a:rPr lang="en" sz="1400" b="0" u="none" strike="noStrike" dirty="0">
                <a:solidFill>
                  <a:schemeClr val="dk1"/>
                </a:solidFill>
                <a:effectLst/>
                <a:uFillTx/>
                <a:latin typeface="Amiko"/>
                <a:ea typeface="Amiko"/>
              </a:rPr>
              <a:t>.</a:t>
            </a:r>
            <a:endParaRPr lang="en-US" sz="1400" b="0" u="none" strike="noStrike" dirty="0">
              <a:solidFill>
                <a:srgbClr val="000000"/>
              </a:solidFill>
              <a:effectLst/>
              <a:uFillTx/>
              <a:latin typeface="Amiko"/>
            </a:endParaRPr>
          </a:p>
        </p:txBody>
      </p:sp>
      <p:pic>
        <p:nvPicPr>
          <p:cNvPr id="12290" name="Picture 2" descr="Luminous green solar panel factory in ...">
            <a:extLst>
              <a:ext uri="{FF2B5EF4-FFF2-40B4-BE49-F238E27FC236}">
                <a16:creationId xmlns:a16="http://schemas.microsoft.com/office/drawing/2014/main" id="{B1D7C886-1740-4274-81ED-F0E9D3F2F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80" y="1157732"/>
            <a:ext cx="3620565" cy="3587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868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2900" b="0" u="none" strike="noStrike">
                <a:solidFill>
                  <a:schemeClr val="dk1"/>
                </a:solidFill>
                <a:effectLst/>
                <a:uFillTx/>
                <a:latin typeface="Kodchasan SemiBold"/>
                <a:ea typeface="Kodchasan SemiBold"/>
              </a:rPr>
              <a:t>Module Assembly</a:t>
            </a:r>
            <a:endParaRPr lang="fr-FR" sz="2900" b="0" u="none" strike="noStrike">
              <a:solidFill>
                <a:schemeClr val="dk1"/>
              </a:solidFill>
              <a:effectLst/>
              <a:uFillTx/>
              <a:latin typeface="Arial"/>
            </a:endParaRPr>
          </a:p>
        </p:txBody>
      </p:sp>
      <p:sp>
        <p:nvSpPr>
          <p:cNvPr id="127" name="PlaceHolder 2"/>
          <p:cNvSpPr>
            <a:spLocks noGrp="1"/>
          </p:cNvSpPr>
          <p:nvPr>
            <p:ph type="subTitle"/>
          </p:nvPr>
        </p:nvSpPr>
        <p:spPr>
          <a:xfrm>
            <a:off x="435197" y="1616468"/>
            <a:ext cx="3441081" cy="1910563"/>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u="none" strike="noStrike" dirty="0">
                <a:solidFill>
                  <a:schemeClr val="dk1"/>
                </a:solidFill>
                <a:effectLst/>
                <a:uFillTx/>
                <a:latin typeface="Amiko"/>
                <a:ea typeface="Amiko"/>
              </a:rPr>
              <a:t>During module assembly, functional solar cells are interlinked in series or parallel configurations. They are encapsulated between EVA, glass, and a backsheet, resulting in a robust and weatherproof solar panel ready for deployment.</a:t>
            </a:r>
            <a:endParaRPr lang="en-US" sz="1400" b="0" u="none" strike="noStrike" dirty="0">
              <a:solidFill>
                <a:srgbClr val="000000"/>
              </a:solidFill>
              <a:effectLst/>
              <a:uFillTx/>
              <a:latin typeface="OpenSymbol"/>
            </a:endParaRPr>
          </a:p>
        </p:txBody>
      </p:sp>
      <p:pic>
        <p:nvPicPr>
          <p:cNvPr id="11268" name="Picture 4" descr="Are Solar Panels Actually Sustainable? | by Solarify | Medium">
            <a:extLst>
              <a:ext uri="{FF2B5EF4-FFF2-40B4-BE49-F238E27FC236}">
                <a16:creationId xmlns:a16="http://schemas.microsoft.com/office/drawing/2014/main" id="{D924BB4B-3A93-4BD7-9F4A-37A2B5C98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5782" y="1053296"/>
            <a:ext cx="4699322" cy="38806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fontScale="90000"/>
          </a:bodyPr>
          <a:lstStyle/>
          <a:p>
            <a:pPr algn="r">
              <a:lnSpc>
                <a:spcPct val="100000"/>
              </a:lnSpc>
              <a:tabLst>
                <a:tab pos="0" algn="l"/>
              </a:tabLst>
            </a:pPr>
            <a:r>
              <a:rPr lang="en-US" sz="3200" dirty="0">
                <a:latin typeface="Kodchasan SemiBold"/>
              </a:rPr>
              <a:t>Solar Panel (Module) Assembly</a:t>
            </a:r>
            <a:br>
              <a:rPr lang="en-US" sz="3200" dirty="0">
                <a:latin typeface="Kodchasan SemiBold"/>
              </a:rPr>
            </a:br>
            <a:endParaRPr lang="fr-FR" sz="2900" b="0" u="none" strike="noStrike" dirty="0">
              <a:solidFill>
                <a:schemeClr val="dk1"/>
              </a:solidFill>
              <a:effectLst/>
              <a:uFillTx/>
              <a:latin typeface="Kodchasan SemiBold"/>
            </a:endParaRPr>
          </a:p>
        </p:txBody>
      </p:sp>
      <p:sp>
        <p:nvSpPr>
          <p:cNvPr id="2" name="Rectangle 1">
            <a:extLst>
              <a:ext uri="{FF2B5EF4-FFF2-40B4-BE49-F238E27FC236}">
                <a16:creationId xmlns:a16="http://schemas.microsoft.com/office/drawing/2014/main" id="{DF09EB45-EE19-4420-B434-32F62DB73286}"/>
              </a:ext>
            </a:extLst>
          </p:cNvPr>
          <p:cNvSpPr/>
          <p:nvPr/>
        </p:nvSpPr>
        <p:spPr>
          <a:xfrm>
            <a:off x="172020" y="934080"/>
            <a:ext cx="4572000" cy="4247317"/>
          </a:xfrm>
          <a:prstGeom prst="rect">
            <a:avLst/>
          </a:prstGeom>
        </p:spPr>
        <p:txBody>
          <a:bodyPr>
            <a:spAutoFit/>
          </a:bodyPr>
          <a:lstStyle/>
          <a:p>
            <a:r>
              <a:rPr lang="en-US" sz="1400" b="1" dirty="0">
                <a:latin typeface="Amiko"/>
              </a:rPr>
              <a:t>Cell Interconnection</a:t>
            </a:r>
            <a:endParaRPr lang="en-US" sz="1400" dirty="0">
              <a:latin typeface="Amiko"/>
            </a:endParaRPr>
          </a:p>
          <a:p>
            <a:pPr lvl="1"/>
            <a:r>
              <a:rPr lang="en-US" sz="1400" dirty="0">
                <a:latin typeface="Amiko"/>
              </a:rPr>
              <a:t>Solar cells are soldered in series/parallel to form strings.</a:t>
            </a:r>
          </a:p>
          <a:p>
            <a:r>
              <a:rPr lang="en-US" sz="1400" b="1" dirty="0">
                <a:latin typeface="Amiko"/>
              </a:rPr>
              <a:t>Encapsulation</a:t>
            </a:r>
            <a:endParaRPr lang="en-US" sz="1400" dirty="0">
              <a:latin typeface="Amiko"/>
            </a:endParaRPr>
          </a:p>
          <a:p>
            <a:pPr lvl="1"/>
            <a:r>
              <a:rPr lang="en-US" sz="1400" dirty="0">
                <a:latin typeface="Amiko"/>
              </a:rPr>
              <a:t>Cells are layered between EVA sheets, tempered glass (top), and a </a:t>
            </a:r>
            <a:r>
              <a:rPr lang="en-US" sz="1400" dirty="0" err="1">
                <a:latin typeface="Amiko"/>
              </a:rPr>
              <a:t>backsheet</a:t>
            </a:r>
            <a:r>
              <a:rPr lang="en-US" sz="1400" dirty="0">
                <a:latin typeface="Amiko"/>
              </a:rPr>
              <a:t> (bottom).</a:t>
            </a:r>
          </a:p>
          <a:p>
            <a:r>
              <a:rPr lang="en-US" sz="1400" b="1" dirty="0">
                <a:latin typeface="Amiko"/>
              </a:rPr>
              <a:t>Lamination</a:t>
            </a:r>
            <a:endParaRPr lang="en-US" sz="1400" dirty="0">
              <a:latin typeface="Amiko"/>
            </a:endParaRPr>
          </a:p>
          <a:p>
            <a:pPr lvl="1"/>
            <a:r>
              <a:rPr lang="en-US" sz="1400" dirty="0">
                <a:latin typeface="Amiko"/>
              </a:rPr>
              <a:t>The stack is vacuum-laminated to seal and protect the components.</a:t>
            </a:r>
          </a:p>
          <a:p>
            <a:r>
              <a:rPr lang="en-US" sz="1400" b="1" dirty="0">
                <a:latin typeface="Amiko"/>
              </a:rPr>
              <a:t>Framing</a:t>
            </a:r>
            <a:endParaRPr lang="en-US" sz="1400" dirty="0">
              <a:latin typeface="Amiko"/>
            </a:endParaRPr>
          </a:p>
          <a:p>
            <a:pPr lvl="1"/>
            <a:r>
              <a:rPr lang="en-US" sz="1400" dirty="0">
                <a:latin typeface="Amiko"/>
              </a:rPr>
              <a:t>An aluminum frame is added for structural strength and mounting.</a:t>
            </a:r>
          </a:p>
          <a:p>
            <a:r>
              <a:rPr lang="en-US" sz="1400" b="1" dirty="0">
                <a:latin typeface="Amiko"/>
              </a:rPr>
              <a:t>Junction Box Installation</a:t>
            </a:r>
            <a:endParaRPr lang="en-US" sz="1400" dirty="0">
              <a:latin typeface="Amiko"/>
            </a:endParaRPr>
          </a:p>
          <a:p>
            <a:pPr lvl="1"/>
            <a:r>
              <a:rPr lang="en-US" sz="1400" dirty="0">
                <a:latin typeface="Amiko"/>
              </a:rPr>
              <a:t>Attached at the back, enabling external electrical connection with bypass diodes.</a:t>
            </a:r>
          </a:p>
          <a:p>
            <a:r>
              <a:rPr lang="en-US" sz="1400" b="1" dirty="0">
                <a:latin typeface="Amiko"/>
              </a:rPr>
              <a:t>Final Testing</a:t>
            </a:r>
            <a:endParaRPr lang="en-US" sz="1400" dirty="0">
              <a:latin typeface="Amiko"/>
            </a:endParaRPr>
          </a:p>
          <a:p>
            <a:pPr lvl="1"/>
            <a:r>
              <a:rPr lang="en-US" sz="1400" dirty="0">
                <a:latin typeface="Amiko"/>
              </a:rPr>
              <a:t>The panel is tested for voltage, current, insulation, and durability under simulated sunlight.</a:t>
            </a:r>
          </a:p>
          <a:p>
            <a:pPr>
              <a:buFont typeface="Arial" panose="020B0604020202020204" pitchFamily="34" charset="0"/>
              <a:buChar char="•"/>
            </a:pPr>
            <a:endParaRPr lang="en-US" b="0" i="0" dirty="0">
              <a:effectLst/>
              <a:latin typeface="fkGroteskNeue"/>
            </a:endParaRPr>
          </a:p>
        </p:txBody>
      </p:sp>
      <p:pic>
        <p:nvPicPr>
          <p:cNvPr id="3074" name="Picture 2" descr="Solar Panel Construction — Clean Energy Reviews">
            <a:extLst>
              <a:ext uri="{FF2B5EF4-FFF2-40B4-BE49-F238E27FC236}">
                <a16:creationId xmlns:a16="http://schemas.microsoft.com/office/drawing/2014/main" id="{9A8BF0FA-A929-44F4-B816-87C5676F38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734" y="1217280"/>
            <a:ext cx="4171266" cy="2708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12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2900" b="0" u="none" strike="noStrike">
                <a:solidFill>
                  <a:schemeClr val="dk1"/>
                </a:solidFill>
                <a:effectLst/>
                <a:uFillTx/>
                <a:latin typeface="Kodchasan SemiBold"/>
                <a:ea typeface="Kodchasan SemiBold"/>
              </a:rPr>
              <a:t>Junction Box Integration</a:t>
            </a:r>
            <a:endParaRPr lang="fr-FR" sz="2900" b="0" u="none" strike="noStrike">
              <a:solidFill>
                <a:schemeClr val="dk1"/>
              </a:solidFill>
              <a:effectLst/>
              <a:uFillTx/>
              <a:latin typeface="Arial"/>
            </a:endParaRPr>
          </a:p>
        </p:txBody>
      </p:sp>
      <p:sp>
        <p:nvSpPr>
          <p:cNvPr id="129" name="PlaceHolder 2"/>
          <p:cNvSpPr>
            <a:spLocks noGrp="1"/>
          </p:cNvSpPr>
          <p:nvPr>
            <p:ph type="subTitle"/>
          </p:nvPr>
        </p:nvSpPr>
        <p:spPr>
          <a:xfrm>
            <a:off x="491383" y="1973916"/>
            <a:ext cx="3808474" cy="1461527"/>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u="none" strike="noStrike">
                <a:solidFill>
                  <a:schemeClr val="dk1"/>
                </a:solidFill>
                <a:effectLst/>
                <a:uFillTx/>
                <a:latin typeface="Amiko"/>
                <a:ea typeface="Amiko"/>
              </a:rPr>
              <a:t>The junction box is integrated to facilitate external electrical connections to the load or grid. This component is essential for providing a safe and efficient interface for energy distribution and grid connectivity.</a:t>
            </a:r>
            <a:endParaRPr lang="en-US" sz="1400" b="0" u="none" strike="noStrike">
              <a:solidFill>
                <a:srgbClr val="000000"/>
              </a:solidFill>
              <a:effectLst/>
              <a:uFillTx/>
              <a:latin typeface="OpenSymbol"/>
            </a:endParaRPr>
          </a:p>
        </p:txBody>
      </p:sp>
      <p:pic>
        <p:nvPicPr>
          <p:cNvPr id="13314" name="Picture 2" descr="Are Solar Panels Toxic or Bad For the ...">
            <a:extLst>
              <a:ext uri="{FF2B5EF4-FFF2-40B4-BE49-F238E27FC236}">
                <a16:creationId xmlns:a16="http://schemas.microsoft.com/office/drawing/2014/main" id="{7F270813-D627-436E-BC02-6CB5B3CB30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6253" y="1018572"/>
            <a:ext cx="4163227" cy="34724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fontScale="90000"/>
          </a:bodyPr>
          <a:lstStyle/>
          <a:p>
            <a:pPr algn="r">
              <a:lnSpc>
                <a:spcPct val="100000"/>
              </a:lnSpc>
              <a:tabLst>
                <a:tab pos="0" algn="l"/>
              </a:tabLst>
            </a:pPr>
            <a:r>
              <a:rPr lang="en-US" sz="3200" dirty="0">
                <a:latin typeface="Kodchasan SemiBold"/>
              </a:rPr>
              <a:t>Installation and Grid Connection</a:t>
            </a:r>
            <a:br>
              <a:rPr lang="en-US" sz="3200" dirty="0">
                <a:latin typeface="Kodchasan SemiBold"/>
              </a:rPr>
            </a:br>
            <a:endParaRPr lang="fr-FR" sz="2900" b="0" u="none" strike="noStrike" dirty="0">
              <a:solidFill>
                <a:schemeClr val="dk1"/>
              </a:solidFill>
              <a:effectLst/>
              <a:uFillTx/>
              <a:latin typeface="Kodchasan SemiBold"/>
            </a:endParaRPr>
          </a:p>
        </p:txBody>
      </p:sp>
      <p:sp>
        <p:nvSpPr>
          <p:cNvPr id="2" name="Rectangle 1">
            <a:extLst>
              <a:ext uri="{FF2B5EF4-FFF2-40B4-BE49-F238E27FC236}">
                <a16:creationId xmlns:a16="http://schemas.microsoft.com/office/drawing/2014/main" id="{DF09EB45-EE19-4420-B434-32F62DB73286}"/>
              </a:ext>
            </a:extLst>
          </p:cNvPr>
          <p:cNvSpPr/>
          <p:nvPr/>
        </p:nvSpPr>
        <p:spPr>
          <a:xfrm>
            <a:off x="385380" y="2104080"/>
            <a:ext cx="4572000" cy="738664"/>
          </a:xfrm>
          <a:prstGeom prst="rect">
            <a:avLst/>
          </a:prstGeom>
        </p:spPr>
        <p:txBody>
          <a:bodyPr>
            <a:spAutoFit/>
          </a:bodyPr>
          <a:lstStyle/>
          <a:p>
            <a:pPr>
              <a:buFont typeface="Arial" panose="020B0604020202020204" pitchFamily="34" charset="0"/>
              <a:buChar char="•"/>
            </a:pPr>
            <a:r>
              <a:rPr lang="en-US" sz="1400" dirty="0">
                <a:latin typeface="Amiko"/>
              </a:rPr>
              <a:t>Mount panels on roof or ground structure</a:t>
            </a:r>
          </a:p>
          <a:p>
            <a:pPr>
              <a:buFont typeface="Arial" panose="020B0604020202020204" pitchFamily="34" charset="0"/>
              <a:buChar char="•"/>
            </a:pPr>
            <a:r>
              <a:rPr lang="en-US" sz="1400" dirty="0">
                <a:latin typeface="Amiko"/>
              </a:rPr>
              <a:t>Connect panels to inverter (DC → AC conversion)</a:t>
            </a:r>
          </a:p>
          <a:p>
            <a:pPr>
              <a:buFont typeface="Arial" panose="020B0604020202020204" pitchFamily="34" charset="0"/>
              <a:buChar char="•"/>
            </a:pPr>
            <a:r>
              <a:rPr lang="en-US" sz="1400" dirty="0">
                <a:latin typeface="Amiko"/>
              </a:rPr>
              <a:t>Install bi-directional meter for measuring energy flow</a:t>
            </a:r>
            <a:endParaRPr lang="en-US" sz="1400" b="0" i="0" dirty="0">
              <a:effectLst/>
              <a:latin typeface="Amiko"/>
            </a:endParaRPr>
          </a:p>
        </p:txBody>
      </p:sp>
      <p:sp>
        <p:nvSpPr>
          <p:cNvPr id="3" name="AutoShape 2" descr="Big Boost To European Solar PV Manufacturing as Lithuania's Solitek  Confirms Plans To Expand Module Production Capacity by 600 MW in Italy -">
            <a:extLst>
              <a:ext uri="{FF2B5EF4-FFF2-40B4-BE49-F238E27FC236}">
                <a16:creationId xmlns:a16="http://schemas.microsoft.com/office/drawing/2014/main" id="{A5A69ACD-3A5C-4A6B-AB8C-5DA0D4684AA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Big Boost To European Solar PV Manufacturing as Lithuania's Solitek  Confirms Plans To Expand Module Production Capacity by 600 MW in Italy -">
            <a:extLst>
              <a:ext uri="{FF2B5EF4-FFF2-40B4-BE49-F238E27FC236}">
                <a16:creationId xmlns:a16="http://schemas.microsoft.com/office/drawing/2014/main" id="{53218A9A-E8FB-47B0-9390-FF9A631D9FD1}"/>
              </a:ext>
            </a:extLst>
          </p:cNvPr>
          <p:cNvSpPr>
            <a:spLocks noChangeAspect="1" noChangeArrowheads="1"/>
          </p:cNvSpPr>
          <p:nvPr/>
        </p:nvSpPr>
        <p:spPr bwMode="auto">
          <a:xfrm>
            <a:off x="5312780" y="327660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366" name="Picture 6" descr="European Solar PV Manufacturing ...">
            <a:extLst>
              <a:ext uri="{FF2B5EF4-FFF2-40B4-BE49-F238E27FC236}">
                <a16:creationId xmlns:a16="http://schemas.microsoft.com/office/drawing/2014/main" id="{9600C833-256E-47DF-924C-A765DBA1A4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3840" y="1342663"/>
            <a:ext cx="4244780" cy="3125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963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fontScale="90000"/>
          </a:bodyPr>
          <a:lstStyle/>
          <a:p>
            <a:pPr algn="r">
              <a:lnSpc>
                <a:spcPct val="100000"/>
              </a:lnSpc>
              <a:tabLst>
                <a:tab pos="0" algn="l"/>
              </a:tabLst>
            </a:pPr>
            <a:r>
              <a:rPr lang="en-US" sz="3200" dirty="0">
                <a:latin typeface="Kodchasan SemiBold"/>
              </a:rPr>
              <a:t>Power generation</a:t>
            </a:r>
            <a:br>
              <a:rPr lang="en-US" sz="3200" dirty="0">
                <a:latin typeface="Kodchasan SemiBold"/>
              </a:rPr>
            </a:br>
            <a:endParaRPr lang="fr-FR" sz="2900" b="0" u="none" strike="noStrike" dirty="0">
              <a:solidFill>
                <a:schemeClr val="dk1"/>
              </a:solidFill>
              <a:effectLst/>
              <a:uFillTx/>
              <a:latin typeface="Kodchasan SemiBold"/>
            </a:endParaRPr>
          </a:p>
        </p:txBody>
      </p:sp>
      <p:sp>
        <p:nvSpPr>
          <p:cNvPr id="2" name="Rectangle 1">
            <a:extLst>
              <a:ext uri="{FF2B5EF4-FFF2-40B4-BE49-F238E27FC236}">
                <a16:creationId xmlns:a16="http://schemas.microsoft.com/office/drawing/2014/main" id="{DF09EB45-EE19-4420-B434-32F62DB73286}"/>
              </a:ext>
            </a:extLst>
          </p:cNvPr>
          <p:cNvSpPr/>
          <p:nvPr/>
        </p:nvSpPr>
        <p:spPr>
          <a:xfrm>
            <a:off x="4406232" y="1016312"/>
            <a:ext cx="4572000" cy="3600986"/>
          </a:xfrm>
          <a:prstGeom prst="rect">
            <a:avLst/>
          </a:prstGeom>
        </p:spPr>
        <p:txBody>
          <a:bodyPr>
            <a:spAutoFit/>
          </a:bodyPr>
          <a:lstStyle/>
          <a:p>
            <a:r>
              <a:rPr lang="en-US" sz="1400" b="1" dirty="0">
                <a:latin typeface="Amiko"/>
              </a:rPr>
              <a:t>Panel Installation</a:t>
            </a:r>
            <a:endParaRPr lang="en-US" sz="1400" dirty="0">
              <a:latin typeface="Amiko"/>
            </a:endParaRPr>
          </a:p>
          <a:p>
            <a:pPr lvl="1"/>
            <a:r>
              <a:rPr lang="en-US" sz="1400" dirty="0">
                <a:latin typeface="Amiko"/>
              </a:rPr>
              <a:t>Panels are mounted on rooftops or open fields using fixed or tracking mounts.</a:t>
            </a:r>
          </a:p>
          <a:p>
            <a:r>
              <a:rPr lang="en-US" sz="1400" b="1" dirty="0">
                <a:latin typeface="Amiko"/>
              </a:rPr>
              <a:t>Inverter Conversion</a:t>
            </a:r>
            <a:endParaRPr lang="en-US" sz="1400" dirty="0">
              <a:latin typeface="Amiko"/>
            </a:endParaRPr>
          </a:p>
          <a:p>
            <a:pPr lvl="1"/>
            <a:r>
              <a:rPr lang="en-US" sz="1400" dirty="0">
                <a:latin typeface="Amiko"/>
              </a:rPr>
              <a:t>DC power from panels is converted to AC using solar inverters.</a:t>
            </a:r>
          </a:p>
          <a:p>
            <a:r>
              <a:rPr lang="en-US" sz="1400" b="1" dirty="0">
                <a:latin typeface="Amiko"/>
              </a:rPr>
              <a:t>Power Conditioning</a:t>
            </a:r>
            <a:endParaRPr lang="en-US" sz="1400" dirty="0">
              <a:latin typeface="Amiko"/>
            </a:endParaRPr>
          </a:p>
          <a:p>
            <a:pPr lvl="1"/>
            <a:r>
              <a:rPr lang="en-US" sz="1400" dirty="0">
                <a:latin typeface="Amiko"/>
              </a:rPr>
              <a:t>Voltage and frequency are stabilized and synchronized with the local grid.</a:t>
            </a:r>
          </a:p>
          <a:p>
            <a:r>
              <a:rPr lang="en-US" sz="1400" b="1" dirty="0">
                <a:latin typeface="Amiko"/>
              </a:rPr>
              <a:t>Monitoring &amp; Net Metering</a:t>
            </a:r>
            <a:endParaRPr lang="en-US" sz="1400" dirty="0">
              <a:latin typeface="Amiko"/>
            </a:endParaRPr>
          </a:p>
          <a:p>
            <a:pPr lvl="1"/>
            <a:r>
              <a:rPr lang="en-US" sz="1400" dirty="0">
                <a:latin typeface="Amiko"/>
              </a:rPr>
              <a:t>Smart meters track solar generation, usage, and export to the grid.</a:t>
            </a:r>
          </a:p>
          <a:p>
            <a:r>
              <a:rPr lang="en-US" sz="1400" b="1" dirty="0">
                <a:latin typeface="Amiko"/>
              </a:rPr>
              <a:t>Power Distribution</a:t>
            </a:r>
            <a:endParaRPr lang="en-US" sz="1400" dirty="0">
              <a:latin typeface="Amiko"/>
            </a:endParaRPr>
          </a:p>
          <a:p>
            <a:pPr lvl="1"/>
            <a:r>
              <a:rPr lang="en-US" sz="1400" dirty="0">
                <a:latin typeface="Amiko"/>
              </a:rPr>
              <a:t>AC power is used for home appliances, stored in batteries (optional), or exported to the electrical grid.</a:t>
            </a:r>
          </a:p>
          <a:p>
            <a:pPr>
              <a:buFont typeface="Arial" panose="020B0604020202020204" pitchFamily="34" charset="0"/>
              <a:buChar char="•"/>
            </a:pPr>
            <a:endParaRPr lang="en-US" b="0" i="0" dirty="0">
              <a:effectLst/>
              <a:latin typeface="fkGroteskNeue"/>
            </a:endParaRPr>
          </a:p>
        </p:txBody>
      </p:sp>
      <p:pic>
        <p:nvPicPr>
          <p:cNvPr id="17410" name="Picture 2" descr="The Working Principle of Hybrid Solar Power Plants - Solar Power Corporation">
            <a:extLst>
              <a:ext uri="{FF2B5EF4-FFF2-40B4-BE49-F238E27FC236}">
                <a16:creationId xmlns:a16="http://schemas.microsoft.com/office/drawing/2014/main" id="{788E17A5-E5A6-4856-8BE0-A24D599E7A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68" y="1016312"/>
            <a:ext cx="4032121" cy="3676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1512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Autofit/>
          </a:bodyPr>
          <a:lstStyle/>
          <a:p>
            <a:pPr algn="r">
              <a:lnSpc>
                <a:spcPct val="100000"/>
              </a:lnSpc>
              <a:tabLst>
                <a:tab pos="0" algn="l"/>
              </a:tabLst>
            </a:pPr>
            <a:r>
              <a:rPr lang="en-US" sz="2900" dirty="0">
                <a:latin typeface="Kodchasan SemiBold"/>
              </a:rPr>
              <a:t>Benefits of Solar Energy</a:t>
            </a:r>
            <a:br>
              <a:rPr lang="en-US" sz="2900" dirty="0">
                <a:latin typeface="Kodchasan SemiBold"/>
              </a:rPr>
            </a:br>
            <a:endParaRPr lang="fr-FR" sz="2900" b="0" u="none" strike="noStrike" dirty="0">
              <a:solidFill>
                <a:schemeClr val="dk1"/>
              </a:solidFill>
              <a:effectLst/>
              <a:uFillTx/>
              <a:latin typeface="Kodchasan SemiBold"/>
            </a:endParaRPr>
          </a:p>
        </p:txBody>
      </p:sp>
      <p:sp>
        <p:nvSpPr>
          <p:cNvPr id="129" name="PlaceHolder 2"/>
          <p:cNvSpPr>
            <a:spLocks noGrp="1"/>
          </p:cNvSpPr>
          <p:nvPr>
            <p:ph type="subTitle"/>
          </p:nvPr>
        </p:nvSpPr>
        <p:spPr>
          <a:xfrm>
            <a:off x="502958" y="1840986"/>
            <a:ext cx="3808474" cy="1461527"/>
          </a:xfrm>
          <a:prstGeom prst="rect">
            <a:avLst/>
          </a:prstGeom>
          <a:noFill/>
          <a:ln w="0">
            <a:noFill/>
          </a:ln>
        </p:spPr>
        <p:txBody>
          <a:bodyPr lIns="91440" tIns="91440" rIns="91440" bIns="91440" anchor="t">
            <a:normAutofit/>
          </a:bodyPr>
          <a:lstStyle/>
          <a:p>
            <a:r>
              <a:rPr lang="en-US" sz="1400" dirty="0">
                <a:latin typeface="Amiko"/>
              </a:rPr>
              <a:t>Renewable and clean energy source</a:t>
            </a:r>
          </a:p>
          <a:p>
            <a:r>
              <a:rPr lang="en-US" sz="1400" dirty="0">
                <a:latin typeface="Amiko"/>
              </a:rPr>
              <a:t>Reduces electricity bills</a:t>
            </a:r>
          </a:p>
          <a:p>
            <a:r>
              <a:rPr lang="en-US" sz="1400" dirty="0">
                <a:latin typeface="Amiko"/>
              </a:rPr>
              <a:t>Low maintenance and long lifespan</a:t>
            </a:r>
          </a:p>
          <a:p>
            <a:r>
              <a:rPr lang="en-US" sz="1400" dirty="0">
                <a:latin typeface="Amiko"/>
              </a:rPr>
              <a:t>Supports energy independence and sustainability</a:t>
            </a:r>
          </a:p>
          <a:p>
            <a:pPr indent="0">
              <a:lnSpc>
                <a:spcPct val="100000"/>
              </a:lnSpc>
              <a:buNone/>
              <a:tabLst>
                <a:tab pos="0" algn="l"/>
              </a:tabLst>
            </a:pPr>
            <a:endParaRPr lang="en-US" sz="1400" b="0" u="none" strike="noStrike" dirty="0">
              <a:solidFill>
                <a:srgbClr val="000000"/>
              </a:solidFill>
              <a:effectLst/>
              <a:uFillTx/>
              <a:latin typeface="OpenSymbol"/>
            </a:endParaRPr>
          </a:p>
        </p:txBody>
      </p:sp>
      <p:pic>
        <p:nvPicPr>
          <p:cNvPr id="4" name="Picture 2" descr="The Solar Module Manufacturing Process ...">
            <a:extLst>
              <a:ext uri="{FF2B5EF4-FFF2-40B4-BE49-F238E27FC236}">
                <a16:creationId xmlns:a16="http://schemas.microsoft.com/office/drawing/2014/main" id="{803DE8F1-A04C-4733-A8C0-6EECB9CFD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5289" y="1226916"/>
            <a:ext cx="4084620" cy="341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717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Google Shape;236;p30"/>
          <p:cNvGrpSpPr/>
          <p:nvPr/>
        </p:nvGrpSpPr>
        <p:grpSpPr>
          <a:xfrm>
            <a:off x="0" y="0"/>
            <a:ext cx="9143640" cy="5145480"/>
            <a:chOff x="0" y="0"/>
            <a:chExt cx="9143640" cy="5145480"/>
          </a:xfrm>
        </p:grpSpPr>
        <p:sp>
          <p:nvSpPr>
            <p:cNvPr id="132"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3" name="Google Shape;238;p30"/>
            <p:cNvGrpSpPr/>
            <p:nvPr/>
          </p:nvGrpSpPr>
          <p:grpSpPr>
            <a:xfrm>
              <a:off x="318600" y="310320"/>
              <a:ext cx="8506440" cy="451080"/>
              <a:chOff x="318600" y="310320"/>
              <a:chExt cx="8506440" cy="451080"/>
            </a:xfrm>
          </p:grpSpPr>
          <p:grpSp>
            <p:nvGrpSpPr>
              <p:cNvPr id="134" name="Google Shape;239;p30"/>
              <p:cNvGrpSpPr/>
              <p:nvPr/>
            </p:nvGrpSpPr>
            <p:grpSpPr>
              <a:xfrm>
                <a:off x="318600" y="310320"/>
                <a:ext cx="698400" cy="270360"/>
                <a:chOff x="318600" y="310320"/>
                <a:chExt cx="698400" cy="270360"/>
              </a:xfrm>
            </p:grpSpPr>
            <p:sp>
              <p:nvSpPr>
                <p:cNvPr id="135"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9"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40"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2900" b="0" u="none" strike="noStrike" dirty="0">
                <a:solidFill>
                  <a:schemeClr val="dk1"/>
                </a:solidFill>
                <a:effectLst/>
                <a:uFillTx/>
                <a:latin typeface="Kodchasan SemiBold"/>
                <a:ea typeface="Kodchasan SemiBold"/>
              </a:rPr>
              <a:t>Conclusions</a:t>
            </a:r>
            <a:endParaRPr lang="fr-FR" sz="2900" b="0" u="none" strike="noStrike" dirty="0">
              <a:solidFill>
                <a:schemeClr val="dk1"/>
              </a:solidFill>
              <a:effectLst/>
              <a:uFillTx/>
              <a:latin typeface="Arial"/>
            </a:endParaRPr>
          </a:p>
        </p:txBody>
      </p:sp>
      <p:sp>
        <p:nvSpPr>
          <p:cNvPr id="141" name="PlaceHolder 2"/>
          <p:cNvSpPr>
            <a:spLocks noGrp="1"/>
          </p:cNvSpPr>
          <p:nvPr>
            <p:ph type="subTitle"/>
          </p:nvPr>
        </p:nvSpPr>
        <p:spPr>
          <a:xfrm>
            <a:off x="4676760" y="1085760"/>
            <a:ext cx="4152600" cy="37144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u="none" strike="noStrike" dirty="0">
                <a:solidFill>
                  <a:schemeClr val="dk1"/>
                </a:solidFill>
                <a:effectLst/>
                <a:uFillTx/>
                <a:latin typeface="Amiko"/>
                <a:ea typeface="Amiko"/>
              </a:rPr>
              <a:t>The solar cell manufacturing process encompasses critical steps from doping to module assembly. Each phase ensures optimal functionality and efficiency, resulting in a reliable solar energy solution designed to harness renewable energy effectively.</a:t>
            </a:r>
            <a:endParaRPr lang="en-US" sz="1400" b="0" u="none" strike="noStrike" dirty="0">
              <a:solidFill>
                <a:srgbClr val="000000"/>
              </a:solidFill>
              <a:effectLst/>
              <a:uFillTx/>
              <a:latin typeface="OpenSymbol"/>
            </a:endParaRPr>
          </a:p>
        </p:txBody>
      </p:sp>
      <p:pic>
        <p:nvPicPr>
          <p:cNvPr id="8196" name="Picture 4" descr="Solar Energy Plant for Self-Consumption in Uganda - energypedia">
            <a:extLst>
              <a:ext uri="{FF2B5EF4-FFF2-40B4-BE49-F238E27FC236}">
                <a16:creationId xmlns:a16="http://schemas.microsoft.com/office/drawing/2014/main" id="{8C5293D3-B6CB-4517-9043-AE7396A07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640" y="1071720"/>
            <a:ext cx="4047840" cy="36323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Google Shape;236;p30"/>
          <p:cNvGrpSpPr/>
          <p:nvPr/>
        </p:nvGrpSpPr>
        <p:grpSpPr>
          <a:xfrm>
            <a:off x="360" y="0"/>
            <a:ext cx="9143640" cy="5145480"/>
            <a:chOff x="0" y="0"/>
            <a:chExt cx="9143640" cy="5145480"/>
          </a:xfrm>
        </p:grpSpPr>
        <p:sp>
          <p:nvSpPr>
            <p:cNvPr id="132" name="Google Shape;237;p30"/>
            <p:cNvSpPr/>
            <p:nvPr/>
          </p:nvSpPr>
          <p:spPr>
            <a:xfrm>
              <a:off x="0" y="0"/>
              <a:ext cx="9143640" cy="5145480"/>
            </a:xfrm>
            <a:custGeom>
              <a:avLst/>
              <a:gdLst>
                <a:gd name="textAreaLeft" fmla="*/ 0 w 9143640"/>
                <a:gd name="textAreaRight" fmla="*/ 9144000 w 9143640"/>
                <a:gd name="textAreaTop" fmla="*/ 0 h 5145480"/>
                <a:gd name="textAreaBottom" fmla="*/ 5145840 h 5145480"/>
              </a:gdLst>
              <a:ahLst/>
              <a:cxnLst/>
              <a:rect l="textAreaLeft" t="textAreaTop" r="textAreaRight" b="textAreaBottom"/>
              <a:pathLst>
                <a:path w="4412056" h="2482909">
                  <a:moveTo>
                    <a:pt x="4412011" y="0"/>
                  </a:moveTo>
                  <a:lnTo>
                    <a:pt x="0" y="0"/>
                  </a:lnTo>
                  <a:lnTo>
                    <a:pt x="0" y="2482910"/>
                  </a:lnTo>
                  <a:lnTo>
                    <a:pt x="4412057" y="2482910"/>
                  </a:lnTo>
                  <a:cubicBezTo>
                    <a:pt x="4412057" y="2482910"/>
                    <a:pt x="4412057" y="0"/>
                    <a:pt x="4412057" y="0"/>
                  </a:cubicBezTo>
                  <a:close/>
                  <a:moveTo>
                    <a:pt x="1977975" y="2199821"/>
                  </a:moveTo>
                  <a:cubicBezTo>
                    <a:pt x="1973913" y="2260141"/>
                    <a:pt x="1925363" y="2308645"/>
                    <a:pt x="1865044" y="2312660"/>
                  </a:cubicBezTo>
                  <a:lnTo>
                    <a:pt x="264905" y="2312660"/>
                  </a:lnTo>
                  <a:cubicBezTo>
                    <a:pt x="204540" y="2308645"/>
                    <a:pt x="155990" y="2260048"/>
                    <a:pt x="151974" y="2199821"/>
                  </a:cubicBezTo>
                  <a:lnTo>
                    <a:pt x="154190" y="851989"/>
                  </a:lnTo>
                  <a:cubicBezTo>
                    <a:pt x="191895" y="683493"/>
                    <a:pt x="383559" y="815068"/>
                    <a:pt x="461000" y="707122"/>
                  </a:cubicBezTo>
                  <a:cubicBezTo>
                    <a:pt x="493951" y="661201"/>
                    <a:pt x="471291" y="609790"/>
                    <a:pt x="509827" y="562439"/>
                  </a:cubicBezTo>
                  <a:cubicBezTo>
                    <a:pt x="529395" y="538441"/>
                    <a:pt x="554501" y="527364"/>
                    <a:pt x="584361" y="521780"/>
                  </a:cubicBezTo>
                  <a:lnTo>
                    <a:pt x="1864998" y="520442"/>
                  </a:lnTo>
                  <a:cubicBezTo>
                    <a:pt x="1925363" y="524457"/>
                    <a:pt x="1973913" y="573054"/>
                    <a:pt x="1977928" y="633281"/>
                  </a:cubicBezTo>
                  <a:lnTo>
                    <a:pt x="1977928" y="2199821"/>
                  </a:lnTo>
                  <a:close/>
                </a:path>
              </a:pathLst>
            </a:custGeom>
            <a:solidFill>
              <a:schemeClr val="l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marL="457200" indent="-457200" defTabSz="914400">
                <a:lnSpc>
                  <a:spcPct val="100000"/>
                </a:lnSpc>
                <a:buFont typeface="Arial" panose="020B0604020202020204" pitchFamily="34" charset="0"/>
                <a:buChar char="•"/>
                <a:tabLst>
                  <a:tab pos="0" algn="l"/>
                </a:tabLst>
              </a:pPr>
              <a:endParaRPr lang="en-US" sz="2600" b="0" u="none" strike="noStrike" dirty="0">
                <a:solidFill>
                  <a:srgbClr val="000000"/>
                </a:solidFill>
                <a:effectLst/>
                <a:uFillTx/>
                <a:latin typeface="Kodchasan SemiBold"/>
              </a:endParaRPr>
            </a:p>
          </p:txBody>
        </p:sp>
        <p:grpSp>
          <p:nvGrpSpPr>
            <p:cNvPr id="133" name="Google Shape;238;p30"/>
            <p:cNvGrpSpPr/>
            <p:nvPr/>
          </p:nvGrpSpPr>
          <p:grpSpPr>
            <a:xfrm>
              <a:off x="318600" y="310320"/>
              <a:ext cx="8506440" cy="451080"/>
              <a:chOff x="318600" y="310320"/>
              <a:chExt cx="8506440" cy="451080"/>
            </a:xfrm>
          </p:grpSpPr>
          <p:grpSp>
            <p:nvGrpSpPr>
              <p:cNvPr id="134" name="Google Shape;239;p30"/>
              <p:cNvGrpSpPr/>
              <p:nvPr/>
            </p:nvGrpSpPr>
            <p:grpSpPr>
              <a:xfrm>
                <a:off x="318600" y="310320"/>
                <a:ext cx="698400" cy="270360"/>
                <a:chOff x="318600" y="310320"/>
                <a:chExt cx="698400" cy="270360"/>
              </a:xfrm>
            </p:grpSpPr>
            <p:sp>
              <p:nvSpPr>
                <p:cNvPr id="135" name="Google Shape;240;p30"/>
                <p:cNvSpPr/>
                <p:nvPr/>
              </p:nvSpPr>
              <p:spPr>
                <a:xfrm>
                  <a:off x="318600" y="310320"/>
                  <a:ext cx="698400" cy="27036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6" name="Google Shape;241;p30"/>
                <p:cNvSpPr/>
                <p:nvPr/>
              </p:nvSpPr>
              <p:spPr>
                <a:xfrm>
                  <a:off x="382320" y="373320"/>
                  <a:ext cx="131040" cy="131040"/>
                </a:xfrm>
                <a:prstGeom prst="ellipse">
                  <a:avLst/>
                </a:prstGeom>
                <a:solidFill>
                  <a:schemeClr val="dk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7" name="Google Shape;242;p30"/>
                <p:cNvSpPr/>
                <p:nvPr/>
              </p:nvSpPr>
              <p:spPr>
                <a:xfrm>
                  <a:off x="602280" y="373320"/>
                  <a:ext cx="131040" cy="131040"/>
                </a:xfrm>
                <a:prstGeom prst="ellipse">
                  <a:avLst/>
                </a:prstGeom>
                <a:solidFill>
                  <a:schemeClr val="accent1"/>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sp>
              <p:nvSpPr>
                <p:cNvPr id="138" name="Google Shape;243;p30"/>
                <p:cNvSpPr/>
                <p:nvPr/>
              </p:nvSpPr>
              <p:spPr>
                <a:xfrm>
                  <a:off x="822240" y="373320"/>
                  <a:ext cx="131040" cy="131040"/>
                </a:xfrm>
                <a:prstGeom prst="ellipse">
                  <a:avLst/>
                </a:prstGeom>
                <a:solidFill>
                  <a:schemeClr val="accen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46440" bIns="46440" anchor="ctr">
                  <a:noAutofit/>
                </a:bodyPr>
                <a:lstStyle/>
                <a:p>
                  <a:pPr algn="ctr" defTabSz="914400">
                    <a:lnSpc>
                      <a:spcPct val="100000"/>
                    </a:lnSpc>
                    <a:tabLst>
                      <a:tab pos="0" algn="l"/>
                    </a:tabLst>
                  </a:pPr>
                  <a:endParaRPr lang="en-US" sz="2600" b="0" u="none" strike="noStrike">
                    <a:solidFill>
                      <a:srgbClr val="FFFFFF"/>
                    </a:solidFill>
                    <a:effectLst/>
                    <a:uFillTx/>
                    <a:latin typeface="Kodchasan SemiBold"/>
                  </a:endParaRPr>
                </a:p>
              </p:txBody>
            </p:sp>
          </p:grpSp>
          <p:sp>
            <p:nvSpPr>
              <p:cNvPr id="139" name="Google Shape;244;p30"/>
              <p:cNvSpPr/>
              <p:nvPr/>
            </p:nvSpPr>
            <p:spPr>
              <a:xfrm>
                <a:off x="1167120" y="310320"/>
                <a:ext cx="7657920" cy="451080"/>
              </a:xfrm>
              <a:prstGeom prst="roundRect">
                <a:avLst>
                  <a:gd name="adj" fmla="val 17792"/>
                </a:avLst>
              </a:prstGeom>
              <a:solidFill>
                <a:schemeClr val="lt2"/>
              </a:solidFill>
              <a:ln w="0">
                <a:noFill/>
              </a:ln>
              <a:effectLst>
                <a:outerShdw blurRad="57240" dist="19080" dir="5400000" algn="bl" rotWithShape="0">
                  <a:srgbClr val="000000">
                    <a:alpha val="50000"/>
                  </a:srgbClr>
                </a:outerShdw>
              </a:effectLst>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2600" b="0" u="none" strike="noStrike">
                  <a:solidFill>
                    <a:srgbClr val="000000"/>
                  </a:solidFill>
                  <a:effectLst/>
                  <a:uFillTx/>
                  <a:latin typeface="Kodchasan SemiBold"/>
                </a:endParaRPr>
              </a:p>
            </p:txBody>
          </p:sp>
        </p:grpSp>
      </p:grpSp>
      <p:sp>
        <p:nvSpPr>
          <p:cNvPr id="140" name="PlaceHolder 1"/>
          <p:cNvSpPr>
            <a:spLocks noGrp="1"/>
          </p:cNvSpPr>
          <p:nvPr>
            <p:ph type="title"/>
          </p:nvPr>
        </p:nvSpPr>
        <p:spPr>
          <a:xfrm>
            <a:off x="1295280" y="209520"/>
            <a:ext cx="7324200" cy="723600"/>
          </a:xfrm>
          <a:prstGeom prst="rect">
            <a:avLst/>
          </a:prstGeom>
          <a:noFill/>
          <a:ln w="0">
            <a:noFill/>
          </a:ln>
        </p:spPr>
        <p:txBody>
          <a:bodyPr lIns="91440" tIns="91440" rIns="91440" bIns="91440" anchor="t">
            <a:noAutofit/>
          </a:bodyPr>
          <a:lstStyle/>
          <a:p>
            <a:pPr indent="0" algn="r">
              <a:lnSpc>
                <a:spcPct val="100000"/>
              </a:lnSpc>
              <a:buNone/>
              <a:tabLst>
                <a:tab pos="0" algn="l"/>
              </a:tabLst>
            </a:pPr>
            <a:r>
              <a:rPr lang="en-US" sz="2900" dirty="0">
                <a:latin typeface="Kodchasan SemiBold"/>
              </a:rPr>
              <a:t>Thank you</a:t>
            </a:r>
            <a:br>
              <a:rPr lang="en-US" sz="2900" dirty="0">
                <a:latin typeface="Kodchasan SemiBold"/>
              </a:rPr>
            </a:br>
            <a:br>
              <a:rPr lang="en-US" sz="2900" dirty="0">
                <a:latin typeface="Kodchasan SemiBold"/>
              </a:rPr>
            </a:br>
            <a:r>
              <a:rPr lang="en-US" sz="2900" dirty="0">
                <a:latin typeface="Kodchasan SemiBold"/>
              </a:rPr>
              <a:t> </a:t>
            </a:r>
            <a:br>
              <a:rPr lang="en-US" sz="2900" dirty="0">
                <a:latin typeface="Kodchasan SemiBold"/>
              </a:rPr>
            </a:br>
            <a:br>
              <a:rPr lang="en-US" sz="2900" dirty="0">
                <a:latin typeface="Kodchasan SemiBold"/>
              </a:rPr>
            </a:br>
            <a:endParaRPr lang="fr-FR" sz="2900" b="0" u="none" strike="noStrike" dirty="0">
              <a:solidFill>
                <a:schemeClr val="dk1"/>
              </a:solidFill>
              <a:effectLst/>
              <a:uFillTx/>
              <a:latin typeface="Kodchasan SemiBold"/>
            </a:endParaRPr>
          </a:p>
        </p:txBody>
      </p:sp>
      <p:sp>
        <p:nvSpPr>
          <p:cNvPr id="4" name="Rectangle 3">
            <a:extLst>
              <a:ext uri="{FF2B5EF4-FFF2-40B4-BE49-F238E27FC236}">
                <a16:creationId xmlns:a16="http://schemas.microsoft.com/office/drawing/2014/main" id="{EA6D3549-236A-465A-8B4D-6B663964A1E8}"/>
              </a:ext>
            </a:extLst>
          </p:cNvPr>
          <p:cNvSpPr>
            <a:spLocks noChangeArrowheads="1"/>
          </p:cNvSpPr>
          <p:nvPr/>
        </p:nvSpPr>
        <p:spPr bwMode="auto">
          <a:xfrm>
            <a:off x="4676760" y="1822605"/>
            <a:ext cx="455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US" altLang="en-US" sz="1400" b="0" i="0" u="none" strike="noStrike" cap="none" normalizeH="0" baseline="0" dirty="0">
                <a:ln>
                  <a:noFill/>
                </a:ln>
                <a:solidFill>
                  <a:schemeClr val="tx1"/>
                </a:solidFill>
                <a:effectLst/>
                <a:latin typeface="Amiko"/>
              </a:rPr>
              <a:t>          </a:t>
            </a:r>
            <a:endParaRPr lang="en-US" dirty="0"/>
          </a:p>
          <a:p>
            <a:endParaRPr kumimoji="0" lang="en-US" altLang="en-US" sz="1400" b="0" i="0" u="none" strike="noStrike" cap="none" normalizeH="0" baseline="0" dirty="0">
              <a:ln>
                <a:noFill/>
              </a:ln>
              <a:solidFill>
                <a:schemeClr val="tx1"/>
              </a:solidFill>
              <a:effectLst/>
              <a:latin typeface="Amiko"/>
            </a:endParaRPr>
          </a:p>
        </p:txBody>
      </p:sp>
      <p:sp>
        <p:nvSpPr>
          <p:cNvPr id="2" name="Rectangle 1">
            <a:extLst>
              <a:ext uri="{FF2B5EF4-FFF2-40B4-BE49-F238E27FC236}">
                <a16:creationId xmlns:a16="http://schemas.microsoft.com/office/drawing/2014/main" id="{DDD23DC6-DAD9-4926-AE02-E25605E453D2}"/>
              </a:ext>
            </a:extLst>
          </p:cNvPr>
          <p:cNvSpPr/>
          <p:nvPr/>
        </p:nvSpPr>
        <p:spPr>
          <a:xfrm>
            <a:off x="4467061" y="2372913"/>
            <a:ext cx="4572000" cy="646331"/>
          </a:xfrm>
          <a:prstGeom prst="rect">
            <a:avLst/>
          </a:prstGeom>
        </p:spPr>
        <p:txBody>
          <a:bodyPr>
            <a:spAutoFit/>
          </a:bodyPr>
          <a:lstStyle/>
          <a:p>
            <a:r>
              <a:rPr lang="en-US" sz="1400" b="1" dirty="0">
                <a:latin typeface="Amiko"/>
              </a:rPr>
              <a:t>Turning rays into power, and ideas into impact</a:t>
            </a:r>
            <a:r>
              <a:rPr lang="en-US" b="1" dirty="0">
                <a:latin typeface="Amiko"/>
              </a:rPr>
              <a:t>.</a:t>
            </a:r>
            <a:endParaRPr lang="en-US" dirty="0">
              <a:latin typeface="Amiko"/>
            </a:endParaRPr>
          </a:p>
          <a:p>
            <a:endParaRPr lang="en-US" b="0" i="0" dirty="0">
              <a:effectLst/>
              <a:latin typeface="fkGroteskNeue"/>
            </a:endParaRPr>
          </a:p>
        </p:txBody>
      </p:sp>
      <p:pic>
        <p:nvPicPr>
          <p:cNvPr id="19458" name="Picture 2" descr="Polymer p-doping improves perovskite ...">
            <a:extLst>
              <a:ext uri="{FF2B5EF4-FFF2-40B4-BE49-F238E27FC236}">
                <a16:creationId xmlns:a16="http://schemas.microsoft.com/office/drawing/2014/main" id="{D840845D-983C-4DD4-8836-49239D0ACD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9" y="1354238"/>
            <a:ext cx="3761005" cy="3159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655061"/>
      </p:ext>
    </p:extLst>
  </p:cSld>
  <p:clrMapOvr>
    <a:masterClrMapping/>
  </p:clrMapOvr>
</p:sld>
</file>

<file path=ppt/theme/theme1.xml><?xml version="1.0" encoding="utf-8"?>
<a:theme xmlns:a="http://schemas.openxmlformats.org/drawingml/2006/main" name="Creative Writing Prompts by Slidesgo">
  <a:themeElements>
    <a:clrScheme name="Simple Light">
      <a:dk1>
        <a:srgbClr val="252525"/>
      </a:dk1>
      <a:lt1>
        <a:srgbClr val="F5F5F5"/>
      </a:lt1>
      <a:dk2>
        <a:srgbClr val="EFC35E"/>
      </a:dk2>
      <a:lt2>
        <a:srgbClr val="FFFFFF"/>
      </a:lt2>
      <a:accent1>
        <a:srgbClr val="A6C999"/>
      </a:accent1>
      <a:accent2>
        <a:srgbClr val="CA703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151</TotalTime>
  <Words>820</Words>
  <Application>Microsoft Office PowerPoint</Application>
  <PresentationFormat>On-screen Show (16:9)</PresentationFormat>
  <Paragraphs>92</Paragraphs>
  <Slides>23</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23</vt:i4>
      </vt:variant>
    </vt:vector>
  </HeadingPairs>
  <TitlesOfParts>
    <vt:vector size="32" baseType="lpstr">
      <vt:lpstr>Amiko</vt:lpstr>
      <vt:lpstr>Arial</vt:lpstr>
      <vt:lpstr>fkGroteskNeue</vt:lpstr>
      <vt:lpstr>Kodchasan SemiBold</vt:lpstr>
      <vt:lpstr>OpenSymbol</vt:lpstr>
      <vt:lpstr>Symbol</vt:lpstr>
      <vt:lpstr>Wingdings</vt:lpstr>
      <vt:lpstr>Creative Writing Prompts by Slidesgo</vt:lpstr>
      <vt:lpstr>Slidesgo Final Pages</vt:lpstr>
      <vt:lpstr> The Solar Cell Manufacturing process</vt:lpstr>
      <vt:lpstr>Introduction</vt:lpstr>
      <vt:lpstr>Manufacturing Process Overview</vt:lpstr>
      <vt:lpstr> Silicon Processing &amp; Purification </vt:lpstr>
      <vt:lpstr>Anti-Reflective Coating (ARC)</vt:lpstr>
      <vt:lpstr> Ingot Formation  </vt:lpstr>
      <vt:lpstr>Wafer Slicing    </vt:lpstr>
      <vt:lpstr>Wafer Treatment     </vt:lpstr>
      <vt:lpstr>Doping – P-N Junction Formation</vt:lpstr>
      <vt:lpstr>Solar Cell Fabrication </vt:lpstr>
      <vt:lpstr>Metallization</vt:lpstr>
      <vt:lpstr>Module (Panel) Assembly  </vt:lpstr>
      <vt:lpstr>Final Testing and Integration</vt:lpstr>
      <vt:lpstr>Testing and Sorting</vt:lpstr>
      <vt:lpstr> Testing and Quality Assurance </vt:lpstr>
      <vt:lpstr>Module Assembly</vt:lpstr>
      <vt:lpstr>Solar Panel (Module) Assembly </vt:lpstr>
      <vt:lpstr>Junction Box Integration</vt:lpstr>
      <vt:lpstr>Installation and Grid Connection </vt:lpstr>
      <vt:lpstr>Power generation </vt:lpstr>
      <vt:lpstr>Benefits of Solar Energy </vt:lpstr>
      <vt:lpstr>Conclusions</vt:lpstr>
      <vt:lpstr>Thank you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Solar Cell Manufacturing Model</dc:title>
  <dc:creator>dharsini</dc:creator>
  <cp:lastModifiedBy>DELL</cp:lastModifiedBy>
  <cp:revision>16</cp:revision>
  <dcterms:modified xsi:type="dcterms:W3CDTF">2025-07-14T00:54:22Z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2025-07-13T17:54:13Z</dcterms:created>
  <dc:creator>Unknown Creator</dc:creator>
  <dc:description/>
  <dc:language>en-US</dc:language>
  <cp:lastModifiedBy>Unknown Creator</cp:lastModifiedBy>
  <dcterms:modified xsi:type="dcterms:W3CDTF">2025-07-13T17:54:13Z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